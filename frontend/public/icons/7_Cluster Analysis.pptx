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0" r:id="rId16"/>
    <p:sldId id="272" r:id="rId17"/>
    <p:sldId id="273" r:id="rId18"/>
    <p:sldId id="275" r:id="rId19"/>
    <p:sldId id="276" r:id="rId20"/>
    <p:sldId id="277" r:id="rId21"/>
    <p:sldId id="298" r:id="rId22"/>
    <p:sldId id="315" r:id="rId23"/>
    <p:sldId id="316" r:id="rId24"/>
    <p:sldId id="317" r:id="rId25"/>
    <p:sldId id="278" r:id="rId26"/>
    <p:sldId id="279" r:id="rId27"/>
    <p:sldId id="299" r:id="rId28"/>
    <p:sldId id="300" r:id="rId29"/>
    <p:sldId id="301" r:id="rId30"/>
    <p:sldId id="303" r:id="rId31"/>
    <p:sldId id="305" r:id="rId32"/>
    <p:sldId id="304" r:id="rId33"/>
    <p:sldId id="302" r:id="rId34"/>
    <p:sldId id="306" r:id="rId35"/>
    <p:sldId id="307" r:id="rId36"/>
    <p:sldId id="312" r:id="rId37"/>
    <p:sldId id="313" r:id="rId38"/>
    <p:sldId id="314" r:id="rId39"/>
    <p:sldId id="318" r:id="rId40"/>
    <p:sldId id="319" r:id="rId41"/>
    <p:sldId id="335" r:id="rId42"/>
    <p:sldId id="293" r:id="rId43"/>
    <p:sldId id="320" r:id="rId44"/>
    <p:sldId id="295" r:id="rId45"/>
    <p:sldId id="296" r:id="rId46"/>
    <p:sldId id="294" r:id="rId47"/>
    <p:sldId id="297" r:id="rId48"/>
    <p:sldId id="321" r:id="rId49"/>
    <p:sldId id="334" r:id="rId50"/>
    <p:sldId id="323" r:id="rId51"/>
    <p:sldId id="325" r:id="rId52"/>
    <p:sldId id="324" r:id="rId53"/>
    <p:sldId id="326" r:id="rId54"/>
    <p:sldId id="327" r:id="rId55"/>
    <p:sldId id="328" r:id="rId56"/>
    <p:sldId id="329" r:id="rId57"/>
    <p:sldId id="330" r:id="rId58"/>
    <p:sldId id="331" r:id="rId59"/>
    <p:sldId id="332" r:id="rId60"/>
    <p:sldId id="333" r:id="rId6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34" autoAdjust="0"/>
    <p:restoredTop sz="94624" autoAdjust="0"/>
  </p:normalViewPr>
  <p:slideViewPr>
    <p:cSldViewPr>
      <p:cViewPr varScale="1">
        <p:scale>
          <a:sx n="65" d="100"/>
          <a:sy n="65" d="100"/>
        </p:scale>
        <p:origin x="-144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759036-A9A3-4131-A249-685CF13E5D7E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28D110-E85E-4FFF-B41D-535088C567B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28D110-E85E-4FFF-B41D-535088C567B7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A056B-42D0-4B64-A8B3-F2BFB13540BC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49E9-3536-4B7A-9490-44AA9DB6F87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A056B-42D0-4B64-A8B3-F2BFB13540BC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49E9-3536-4B7A-9490-44AA9DB6F87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A056B-42D0-4B64-A8B3-F2BFB13540BC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49E9-3536-4B7A-9490-44AA9DB6F87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A056B-42D0-4B64-A8B3-F2BFB13540BC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49E9-3536-4B7A-9490-44AA9DB6F87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A056B-42D0-4B64-A8B3-F2BFB13540BC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49E9-3536-4B7A-9490-44AA9DB6F87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A056B-42D0-4B64-A8B3-F2BFB13540BC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49E9-3536-4B7A-9490-44AA9DB6F87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A056B-42D0-4B64-A8B3-F2BFB13540BC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49E9-3536-4B7A-9490-44AA9DB6F87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A056B-42D0-4B64-A8B3-F2BFB13540BC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49E9-3536-4B7A-9490-44AA9DB6F87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A056B-42D0-4B64-A8B3-F2BFB13540BC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49E9-3536-4B7A-9490-44AA9DB6F87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A056B-42D0-4B64-A8B3-F2BFB13540BC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49E9-3536-4B7A-9490-44AA9DB6F87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A056B-42D0-4B64-A8B3-F2BFB13540BC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49E9-3536-4B7A-9490-44AA9DB6F87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A056B-42D0-4B64-A8B3-F2BFB13540BC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A49E9-3536-4B7A-9490-44AA9DB6F87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4348" y="2285992"/>
            <a:ext cx="7772400" cy="1470025"/>
          </a:xfrm>
        </p:spPr>
        <p:txBody>
          <a:bodyPr>
            <a:normAutofit/>
          </a:bodyPr>
          <a:lstStyle/>
          <a:p>
            <a:r>
              <a:rPr lang="en-IN" sz="6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Cluster Analysis</a:t>
            </a:r>
            <a:endParaRPr lang="en-US" sz="66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2910" y="1"/>
            <a:ext cx="7772400" cy="714356"/>
          </a:xfrm>
        </p:spPr>
        <p:txBody>
          <a:bodyPr>
            <a:normAutofit/>
          </a:bodyPr>
          <a:lstStyle/>
          <a:p>
            <a:r>
              <a:rPr lang="en-IN" sz="4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What is Cluster Analysis ?</a:t>
            </a:r>
            <a:endParaRPr lang="en-US" sz="4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71470" y="642918"/>
            <a:ext cx="9429816" cy="643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 pitchFamily="34" charset="0"/>
              <a:buChar char="•"/>
            </a:pP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Cluster analysis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 is </a:t>
            </a:r>
          </a:p>
          <a:p>
            <a:pPr lvl="1">
              <a:spcAft>
                <a:spcPts val="600"/>
              </a:spcAft>
              <a:buFont typeface="Arial" pitchFamily="34" charset="0"/>
              <a:buChar char="•"/>
            </a:pP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 A type of 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unsupervised learning 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method</a:t>
            </a:r>
            <a:endParaRPr lang="en-GB" sz="26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  <a:buFont typeface="Arial" pitchFamily="34" charset="0"/>
              <a:buChar char="•"/>
            </a:pP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Clustering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 is the 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grouping of objects 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such that </a:t>
            </a:r>
          </a:p>
          <a:p>
            <a:pPr lvl="1">
              <a:spcAft>
                <a:spcPts val="600"/>
              </a:spcAft>
              <a:buFont typeface="Arial" pitchFamily="34" charset="0"/>
              <a:buChar char="•"/>
            </a:pP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objects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 in a 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group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cluster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) are 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similar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 (or 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related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) to </a:t>
            </a:r>
          </a:p>
          <a:p>
            <a:pPr lvl="1">
              <a:spcAft>
                <a:spcPts val="600"/>
              </a:spcAft>
            </a:pP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one another 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and</a:t>
            </a:r>
          </a:p>
          <a:p>
            <a:pPr lvl="1">
              <a:spcAft>
                <a:spcPts val="600"/>
              </a:spcAft>
              <a:buFont typeface="Arial" pitchFamily="34" charset="0"/>
              <a:buChar char="•"/>
            </a:pP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Different 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from (or 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unrelated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 to) the 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objects 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 other groups</a:t>
            </a:r>
          </a:p>
          <a:p>
            <a:pPr lvl="1">
              <a:spcAft>
                <a:spcPts val="600"/>
              </a:spcAft>
              <a:buFont typeface="Arial" pitchFamily="34" charset="0"/>
              <a:buChar char="•"/>
            </a:pP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Based 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on a 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similarity measure</a:t>
            </a:r>
            <a:endParaRPr lang="en-GB" sz="26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endParaRPr lang="en-GB" sz="26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endParaRPr lang="en-GB" sz="26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endParaRPr lang="en-GB" sz="26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endParaRPr lang="en-GB" sz="26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  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7422" y="4071942"/>
            <a:ext cx="4953574" cy="2571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14356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Applications of Cluster Analysis</a:t>
            </a:r>
            <a:endParaRPr lang="en-US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71470" y="673128"/>
            <a:ext cx="921547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Applications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Group related documents for browsing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Group genes and proteins that have similar functionality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Group stocks with similar price fluctuations 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 Etc.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Summarization 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Reduce the size of large data sets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57866" y="1"/>
            <a:ext cx="9429784" cy="714356"/>
          </a:xfrm>
        </p:spPr>
        <p:txBody>
          <a:bodyPr>
            <a:noAutofit/>
          </a:bodyPr>
          <a:lstStyle/>
          <a:p>
            <a:r>
              <a:rPr lang="en-GB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Notion of a Cluster can be Ambiguous</a:t>
            </a:r>
            <a:endParaRPr lang="en-US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0034" y="857232"/>
          <a:ext cx="8286808" cy="5429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3404"/>
                <a:gridCol w="4143404"/>
              </a:tblGrid>
              <a:tr h="271464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71464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7880" y="1214422"/>
            <a:ext cx="3783647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86314" y="1214422"/>
            <a:ext cx="3861456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7880" y="3929066"/>
            <a:ext cx="3793960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74837" y="3906110"/>
            <a:ext cx="3929090" cy="2015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14356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Types of Clustering</a:t>
            </a:r>
            <a:endParaRPr lang="en-US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857232"/>
            <a:ext cx="9429816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Different types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Clustering</a:t>
            </a:r>
          </a:p>
          <a:p>
            <a:pPr marL="900113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Density-Based Clustering</a:t>
            </a:r>
          </a:p>
          <a:p>
            <a:pPr marL="900113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Hierarchical Clustering</a:t>
            </a:r>
          </a:p>
          <a:p>
            <a:pPr marL="900113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Partitioning Clustering</a:t>
            </a:r>
          </a:p>
          <a:p>
            <a:pPr marL="900113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Grid-Based Clustering</a:t>
            </a:r>
          </a:p>
          <a:p>
            <a:pPr marL="900113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Model-based Clustering </a:t>
            </a:r>
          </a:p>
          <a:p>
            <a:pPr marL="900113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Sub-space Clustering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14356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Clustering :: Similarity Measures</a:t>
            </a:r>
            <a:endParaRPr lang="en-US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73128"/>
            <a:ext cx="935834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I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 Data Mining  </a:t>
            </a:r>
          </a:p>
          <a:p>
            <a:pPr marL="269875" lvl="1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similarity measure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is </a:t>
            </a:r>
          </a:p>
          <a:p>
            <a:pPr marL="630238" lvl="2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distance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with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dimensions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describing object features</a:t>
            </a:r>
          </a:p>
          <a:p>
            <a:pPr marL="630238" lvl="1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If the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distance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among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two objects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 small</a:t>
            </a:r>
          </a:p>
          <a:p>
            <a:pPr marL="900113" lvl="4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There is a 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high degree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of similarity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among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 objects </a:t>
            </a:r>
            <a:endParaRPr lang="en-GB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900113" lvl="4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Else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 vice versa</a:t>
            </a:r>
            <a:endParaRPr lang="en-GB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547688" lvl="3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concept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 similarity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is </a:t>
            </a:r>
          </a:p>
          <a:p>
            <a:pPr marL="1004888" lvl="4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 Subjective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 and depends heavily on the context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14356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Clustering :: Similarity Measures</a:t>
            </a:r>
            <a:endParaRPr lang="en-US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71470" y="673128"/>
            <a:ext cx="942981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 Clustering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 is done based on </a:t>
            </a:r>
          </a:p>
          <a:p>
            <a:pPr marL="636588" lvl="1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A 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similarity measure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 to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group similar objects together</a:t>
            </a:r>
          </a:p>
          <a:p>
            <a:pPr marL="636588" lvl="1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The 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similarity measure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 is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most commonly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based on </a:t>
            </a:r>
          </a:p>
          <a:p>
            <a:pPr marL="1093788" lvl="2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Distance functions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such as </a:t>
            </a:r>
          </a:p>
          <a:p>
            <a:pPr marL="1550988" lvl="3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Euclidean distance</a:t>
            </a:r>
          </a:p>
          <a:p>
            <a:pPr marL="1550988" lvl="3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Manhattan distance</a:t>
            </a:r>
          </a:p>
          <a:p>
            <a:pPr marL="1550988" lvl="3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dirty="0" err="1" smtClean="0">
                <a:latin typeface="Times New Roman" pitchFamily="18" charset="0"/>
                <a:cs typeface="Times New Roman" pitchFamily="18" charset="0"/>
              </a:rPr>
              <a:t>Minkowski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distance</a:t>
            </a:r>
          </a:p>
          <a:p>
            <a:pPr marL="1550988" lvl="3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Cosine similarity, etc.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42876" y="-142900"/>
            <a:ext cx="9429784" cy="714356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Similarity Measures::</a:t>
            </a:r>
            <a:r>
              <a:rPr lang="en-US" sz="40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Euclidean Distance</a:t>
            </a:r>
            <a:endParaRPr lang="en-US" sz="40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71470" y="549876"/>
            <a:ext cx="9215470" cy="4816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>
              <a:spcAft>
                <a:spcPts val="600"/>
              </a:spcAft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traditional metric </a:t>
            </a:r>
          </a:p>
          <a:p>
            <a:pPr marL="636588" lvl="1">
              <a:spcAft>
                <a:spcPts val="600"/>
              </a:spcAft>
              <a:buFont typeface="Arial" pitchFamily="34" charset="0"/>
              <a:buChar char="•"/>
            </a:pP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 F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or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problems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with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geometry</a:t>
            </a:r>
          </a:p>
          <a:p>
            <a:pPr marL="179388">
              <a:spcAft>
                <a:spcPts val="600"/>
              </a:spcAft>
              <a:buFont typeface="Arial" pitchFamily="34" charset="0"/>
              <a:buChar char="•"/>
            </a:pPr>
            <a:endParaRPr lang="en-GB" sz="1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179388">
              <a:spcAft>
                <a:spcPts val="600"/>
              </a:spcAft>
              <a:buFont typeface="Arial" pitchFamily="34" charset="0"/>
              <a:buChar char="•"/>
            </a:pPr>
            <a:endParaRPr lang="en-GB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179388">
              <a:spcAft>
                <a:spcPts val="600"/>
              </a:spcAft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It can be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simply explained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as </a:t>
            </a:r>
          </a:p>
          <a:p>
            <a:pPr marL="636588" lvl="1">
              <a:spcAft>
                <a:spcPts val="600"/>
              </a:spcAft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The 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ordinary distance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 between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two points</a:t>
            </a:r>
          </a:p>
          <a:p>
            <a:pPr marL="636588" lvl="1">
              <a:spcAft>
                <a:spcPts val="600"/>
              </a:spcAft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One of the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most used measure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in the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cluster analysis</a:t>
            </a:r>
          </a:p>
          <a:p>
            <a:pPr marL="636588" lvl="1">
              <a:spcAft>
                <a:spcPts val="600"/>
              </a:spcAft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Mathematically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, it can be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computed as </a:t>
            </a:r>
          </a:p>
          <a:p>
            <a:pPr marL="1093788" lvl="2">
              <a:spcAft>
                <a:spcPts val="600"/>
              </a:spcAft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The 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root of squared differences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 between the </a:t>
            </a:r>
          </a:p>
          <a:p>
            <a:pPr marL="1093788" lvl="2">
              <a:spcAft>
                <a:spcPts val="600"/>
              </a:spcAft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coordinates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between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two objects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22677" y="5429264"/>
            <a:ext cx="6635471" cy="1428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9" name="Picture 7" descr="https://media.geeksforgeeks.org/wp-content/uploads/20200201225751/unnamed4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00760" y="571480"/>
            <a:ext cx="2854732" cy="228601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42876" y="-142900"/>
            <a:ext cx="9429784" cy="714356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Similarity Measures::</a:t>
            </a:r>
            <a:r>
              <a:rPr lang="en-GB" sz="40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Manhattan distance</a:t>
            </a:r>
            <a:endParaRPr lang="en-US" sz="40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71470" y="500042"/>
            <a:ext cx="9429816" cy="65094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 Determines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absolute difference </a:t>
            </a:r>
          </a:p>
          <a:p>
            <a:pPr lvl="1"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Among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pair of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 coordinates</a:t>
            </a:r>
          </a:p>
          <a:p>
            <a:pPr lvl="1" fontAlgn="base">
              <a:lnSpc>
                <a:spcPct val="150000"/>
              </a:lnSpc>
              <a:buFont typeface="Arial" pitchFamily="34" charset="0"/>
              <a:buChar char="•"/>
            </a:pPr>
            <a:endParaRPr lang="en-GB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lvl="1"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Suppose, In a plane, we have </a:t>
            </a:r>
          </a:p>
          <a:p>
            <a:pPr lvl="2"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 Two points P at coordinate (x1, y1) and Q at (x2, y2)</a:t>
            </a:r>
          </a:p>
          <a:p>
            <a:pPr lvl="2"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To determine the distance between these points </a:t>
            </a:r>
          </a:p>
          <a:p>
            <a:pPr lvl="3"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Have to calculate  the perpendicular distance of the </a:t>
            </a:r>
          </a:p>
          <a:p>
            <a:pPr lvl="3" fontAlgn="base">
              <a:lnSpc>
                <a:spcPct val="150000"/>
              </a:lnSpc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 points from X-axis and Y-Axis</a:t>
            </a:r>
          </a:p>
          <a:p>
            <a:pPr marL="893763" lvl="3"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Manhattan distance between P and Q is</a:t>
            </a:r>
          </a:p>
          <a:p>
            <a:pPr fontAlgn="base">
              <a:lnSpc>
                <a:spcPct val="150000"/>
              </a:lnSpc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                       d(P, Q) = |x1 – x2| + |y1 – y2|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532" name="Picture 4" descr="https://media.geeksforgeeks.org/wp-content/uploads/20200201225923/1200px-Manhattan_distance.svg_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86512" y="571480"/>
            <a:ext cx="2643206" cy="264320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42876" y="-142900"/>
            <a:ext cx="9429784" cy="714356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Similarity Measures::</a:t>
            </a:r>
            <a:r>
              <a:rPr lang="en-GB" sz="4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3900" b="1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Minkowski</a:t>
            </a:r>
            <a:r>
              <a:rPr lang="en-GB" sz="39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distance</a:t>
            </a:r>
            <a:endParaRPr lang="en-US" sz="39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71470" y="428604"/>
            <a:ext cx="9429816" cy="7325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The 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generalized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 form of</a:t>
            </a:r>
          </a:p>
          <a:p>
            <a:pPr lvl="1" fontAlgn="base"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Euclidean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Manhattan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Distance Measure </a:t>
            </a:r>
          </a:p>
          <a:p>
            <a:pPr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In an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 n-dimensional space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, a point is represented as</a:t>
            </a:r>
          </a:p>
          <a:p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                             (x</a:t>
            </a:r>
            <a:r>
              <a:rPr lang="en-GB" sz="28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, x</a:t>
            </a:r>
            <a:r>
              <a:rPr lang="en-GB" sz="2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, ..., </a:t>
            </a:r>
            <a:r>
              <a:rPr lang="en-GB" sz="2800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GB" sz="2800" baseline="-25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Consider two points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GB" sz="2800" b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GB" sz="2800" b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</a:p>
          <a:p>
            <a:pPr marL="2593975"/>
            <a:r>
              <a:rPr lang="es-ES" sz="2800" b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s-ES" sz="2800" b="1" baseline="-25000" dirty="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s-ES" sz="28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s-ES" sz="2800" dirty="0" smtClean="0">
                <a:latin typeface="Times New Roman" pitchFamily="18" charset="0"/>
                <a:cs typeface="Times New Roman" pitchFamily="18" charset="0"/>
              </a:rPr>
              <a:t> (X</a:t>
            </a:r>
            <a:r>
              <a:rPr lang="es-ES" sz="28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s-ES" sz="2800" dirty="0" smtClean="0">
                <a:latin typeface="Times New Roman" pitchFamily="18" charset="0"/>
                <a:cs typeface="Times New Roman" pitchFamily="18" charset="0"/>
              </a:rPr>
              <a:t>, X</a:t>
            </a:r>
            <a:r>
              <a:rPr lang="es-ES" sz="2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s-ES" sz="2800" dirty="0" smtClean="0">
                <a:latin typeface="Times New Roman" pitchFamily="18" charset="0"/>
                <a:cs typeface="Times New Roman" pitchFamily="18" charset="0"/>
              </a:rPr>
              <a:t>, ..., </a:t>
            </a:r>
            <a:r>
              <a:rPr lang="es-ES" sz="2800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s-ES" sz="2800" baseline="-25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s-ES" sz="2800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marL="2593975">
              <a:lnSpc>
                <a:spcPct val="150000"/>
              </a:lnSpc>
            </a:pPr>
            <a:r>
              <a:rPr lang="es-ES" sz="2800" b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s-ES" sz="2800" b="1" baseline="-25000" dirty="0" smtClean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s-ES" sz="28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s-ES" sz="2800" dirty="0" smtClean="0">
                <a:latin typeface="Times New Roman" pitchFamily="18" charset="0"/>
                <a:cs typeface="Times New Roman" pitchFamily="18" charset="0"/>
              </a:rPr>
              <a:t> (Y</a:t>
            </a:r>
            <a:r>
              <a:rPr lang="es-ES" sz="28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s-ES" sz="2800" dirty="0" smtClean="0">
                <a:latin typeface="Times New Roman" pitchFamily="18" charset="0"/>
                <a:cs typeface="Times New Roman" pitchFamily="18" charset="0"/>
              </a:rPr>
              <a:t>, Y</a:t>
            </a:r>
            <a:r>
              <a:rPr lang="es-ES" sz="2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s-ES" sz="2800" dirty="0" smtClean="0">
                <a:latin typeface="Times New Roman" pitchFamily="18" charset="0"/>
                <a:cs typeface="Times New Roman" pitchFamily="18" charset="0"/>
              </a:rPr>
              <a:t>, ..., </a:t>
            </a:r>
            <a:r>
              <a:rPr lang="es-ES" sz="2800" dirty="0" err="1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s-ES" sz="2800" baseline="-25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s-ES" sz="28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fontAlgn="base"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Then, the </a:t>
            </a:r>
            <a:r>
              <a:rPr lang="en-GB" sz="2800" dirty="0" err="1" smtClean="0">
                <a:latin typeface="Times New Roman" pitchFamily="18" charset="0"/>
                <a:cs typeface="Times New Roman" pitchFamily="18" charset="0"/>
              </a:rPr>
              <a:t>Minkowski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distance between P</a:t>
            </a:r>
            <a:r>
              <a:rPr lang="en-GB" sz="28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and P</a:t>
            </a:r>
            <a:r>
              <a:rPr lang="en-GB" sz="2800" baseline="-25000" dirty="0" smtClean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is given as</a:t>
            </a:r>
          </a:p>
          <a:p>
            <a:pPr fontAlgn="base"/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    d(P</a:t>
            </a:r>
            <a:r>
              <a:rPr lang="en-GB" sz="2800" baseline="-25000" dirty="0" smtClean="0">
                <a:latin typeface="Times New Roman" pitchFamily="18" charset="0"/>
                <a:cs typeface="Times New Roman" pitchFamily="18" charset="0"/>
              </a:rPr>
              <a:t>1,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P</a:t>
            </a:r>
            <a:r>
              <a:rPr lang="en-GB" sz="2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) = 	</a:t>
            </a:r>
          </a:p>
          <a:p>
            <a:pPr fontAlgn="base">
              <a:buFont typeface="Arial" pitchFamily="34" charset="0"/>
              <a:buChar char="•"/>
            </a:pPr>
            <a:endParaRPr lang="en-GB" sz="1200" dirty="0" smtClean="0">
              <a:latin typeface="Times New Roman" pitchFamily="18" charset="0"/>
              <a:cs typeface="Times New Roman" pitchFamily="18" charset="0"/>
            </a:endParaRPr>
          </a:p>
          <a:p>
            <a:pPr lvl="1" fontAlgn="base"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When </a:t>
            </a:r>
            <a:r>
              <a:rPr lang="en-GB" sz="24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 = 2</a:t>
            </a:r>
          </a:p>
          <a:p>
            <a:pPr lvl="2" fontAlgn="base"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b="1" dirty="0" err="1" smtClean="0">
                <a:latin typeface="Times New Roman" pitchFamily="18" charset="0"/>
                <a:cs typeface="Times New Roman" pitchFamily="18" charset="0"/>
              </a:rPr>
              <a:t>Minkowski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 distance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is same as the 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Euclidean distance</a:t>
            </a:r>
          </a:p>
          <a:p>
            <a:pPr lvl="1" fontAlgn="base"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When </a:t>
            </a:r>
            <a:r>
              <a:rPr lang="en-GB" sz="24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 = 1</a:t>
            </a:r>
          </a:p>
          <a:p>
            <a:pPr lvl="2" fontAlgn="base"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b="1" dirty="0" err="1" smtClean="0">
                <a:latin typeface="Times New Roman" pitchFamily="18" charset="0"/>
                <a:cs typeface="Times New Roman" pitchFamily="18" charset="0"/>
              </a:rPr>
              <a:t>Minkowski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 distance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same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as the 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Manhattan distance</a:t>
            </a:r>
          </a:p>
          <a:p>
            <a:pPr marL="2593975">
              <a:lnSpc>
                <a:spcPct val="150000"/>
              </a:lnSpc>
            </a:pP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32" y="4857760"/>
            <a:ext cx="6425848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42876" y="-142900"/>
            <a:ext cx="9429784" cy="714356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Similarity Measures::</a:t>
            </a:r>
            <a:r>
              <a:rPr lang="en-GB" sz="40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Cosine similarity</a:t>
            </a:r>
            <a:endParaRPr lang="en-US" sz="39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71470" y="285728"/>
            <a:ext cx="9429816" cy="68480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Cosine similarity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 is a metric</a:t>
            </a:r>
          </a:p>
          <a:p>
            <a:pPr lvl="1" fontAlgn="base"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Helpful in determining</a:t>
            </a:r>
          </a:p>
          <a:p>
            <a:pPr lvl="2" fontAlgn="base"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How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similar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 data objects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are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 irrespective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 their size</a:t>
            </a:r>
          </a:p>
          <a:p>
            <a:pPr lvl="2" fontAlgn="base">
              <a:spcAft>
                <a:spcPts val="600"/>
              </a:spcAft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In 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cosine similarity</a:t>
            </a:r>
          </a:p>
          <a:p>
            <a:pPr marL="1163638" lvl="3" fontAlgn="base"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Objects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in a dataset are 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treated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as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vector</a:t>
            </a:r>
          </a:p>
          <a:p>
            <a:pPr marL="1163638" lvl="3"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formula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find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cosine similarity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between 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two vectors </a:t>
            </a:r>
            <a:endParaRPr lang="en-GB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1708150"/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    	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Cos(x, y) = x . y / ||x|| * ||y||      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Where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, </a:t>
            </a:r>
          </a:p>
          <a:p>
            <a:pPr marL="2517775" fontAlgn="base">
              <a:spcAft>
                <a:spcPts val="600"/>
              </a:spcAft>
            </a:pPr>
            <a:endParaRPr lang="en-GB" sz="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517775" fontAlgn="base">
              <a:spcAft>
                <a:spcPts val="600"/>
              </a:spcAft>
            </a:pP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x . y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 =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Dot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product of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 vectors x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y</a:t>
            </a:r>
          </a:p>
          <a:p>
            <a:pPr marL="2517775" fontAlgn="base">
              <a:spcAft>
                <a:spcPts val="600"/>
              </a:spcAft>
            </a:pP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||x|| 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 ||y||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 =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Length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 of the two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vectors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y</a:t>
            </a:r>
          </a:p>
          <a:p>
            <a:pPr marL="2517775" fontAlgn="base">
              <a:spcAft>
                <a:spcPts val="600"/>
              </a:spcAft>
            </a:pP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||x|| * ||y||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 =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Cross product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of the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vectors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y</a:t>
            </a:r>
          </a:p>
          <a:p>
            <a:pPr marL="449263" fontAlgn="base">
              <a:spcAft>
                <a:spcPts val="600"/>
              </a:spcAft>
              <a:buFont typeface="Arial" pitchFamily="34" charset="0"/>
              <a:buChar char="•"/>
            </a:pP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 Advantages</a:t>
            </a:r>
          </a:p>
          <a:p>
            <a:pPr marL="712788" lvl="1" fontAlgn="base"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Even if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two similar objects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far apart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by the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Euclidean distance </a:t>
            </a:r>
          </a:p>
          <a:p>
            <a:pPr marL="712788" lvl="1" fontAlgn="base"/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because of the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size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, they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could still have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smaller angle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between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them</a:t>
            </a:r>
          </a:p>
          <a:p>
            <a:pPr marL="712788" lvl="1" fontAlgn="base">
              <a:buFont typeface="Arial" pitchFamily="34" charset="0"/>
              <a:buChar char="•"/>
            </a:pP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Smaller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angle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higher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similarity</a:t>
            </a:r>
          </a:p>
          <a:p>
            <a:pPr marL="712788" lvl="1" fontAlgn="base">
              <a:buSzPct val="110000"/>
              <a:buFont typeface="Arial" pitchFamily="34" charset="0"/>
              <a:buChar char="•"/>
            </a:pP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  When plotted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on a multi-dimensional space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, the cosine similarity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captures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pPr marL="712788" lvl="1" fontAlgn="base"/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    the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orientation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 (the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angle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) of the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objects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 but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not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magnitude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 fontAlgn="base">
              <a:buFont typeface="Arial" pitchFamily="34" charset="0"/>
              <a:buChar char="•"/>
            </a:pPr>
            <a:endParaRPr lang="en-GB" sz="2000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42876" y="-142900"/>
            <a:ext cx="9429784" cy="714356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Similarity Measures::</a:t>
            </a:r>
            <a:r>
              <a:rPr lang="en-GB" sz="40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Cosine similarity</a:t>
            </a:r>
            <a:endParaRPr lang="en-US" sz="39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71470" y="547475"/>
            <a:ext cx="9429816" cy="652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buFont typeface="Arial" pitchFamily="34" charset="0"/>
              <a:buChar char="•"/>
            </a:pP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find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Cosine Similarity 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between 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two vectors</a:t>
            </a:r>
          </a:p>
          <a:p>
            <a:pPr fontAlgn="base"/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x = { 3, 2, 0, 5 }   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y = { 1, 0, 0, 0 }</a:t>
            </a:r>
          </a:p>
          <a:p>
            <a:pPr fontAlgn="base"/>
            <a:endParaRPr lang="en-GB" sz="1200" dirty="0" smtClean="0">
              <a:latin typeface="Times New Roman" pitchFamily="18" charset="0"/>
              <a:cs typeface="Times New Roman" pitchFamily="18" charset="0"/>
            </a:endParaRPr>
          </a:p>
          <a:p>
            <a:pPr lvl="1" fontAlgn="base">
              <a:buFont typeface="Arial" pitchFamily="34" charset="0"/>
              <a:buChar char="•"/>
            </a:pP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formula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 for 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calculating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cosine similarity 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is </a:t>
            </a:r>
          </a:p>
          <a:p>
            <a:pPr lvl="1" fontAlgn="base">
              <a:buFont typeface="Arial" pitchFamily="34" charset="0"/>
              <a:buChar char="•"/>
            </a:pPr>
            <a:endParaRPr lang="en-GB" sz="600" dirty="0" smtClean="0">
              <a:latin typeface="Times New Roman" pitchFamily="18" charset="0"/>
              <a:cs typeface="Times New Roman" pitchFamily="18" charset="0"/>
            </a:endParaRPr>
          </a:p>
          <a:p>
            <a:pPr fontAlgn="base"/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		Cos(x, y) = x . y / ||x|| * ||y||</a:t>
            </a:r>
          </a:p>
          <a:p>
            <a:pPr fontAlgn="base"/>
            <a:endParaRPr lang="en-GB" sz="600" b="1" dirty="0" smtClean="0">
              <a:latin typeface="Times New Roman" pitchFamily="18" charset="0"/>
              <a:cs typeface="Times New Roman" pitchFamily="18" charset="0"/>
            </a:endParaRPr>
          </a:p>
          <a:p>
            <a:pPr lvl="1" fontAlgn="base">
              <a:buFont typeface="Arial" pitchFamily="34" charset="0"/>
              <a:buChar char="•"/>
            </a:pP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Therefore,</a:t>
            </a:r>
          </a:p>
          <a:p>
            <a:pPr lvl="1" fontAlgn="base">
              <a:buFont typeface="Arial" pitchFamily="34" charset="0"/>
              <a:buChar char="•"/>
            </a:pPr>
            <a:endParaRPr lang="en-GB" sz="600" dirty="0" smtClean="0">
              <a:latin typeface="Times New Roman" pitchFamily="18" charset="0"/>
              <a:cs typeface="Times New Roman" pitchFamily="18" charset="0"/>
            </a:endParaRPr>
          </a:p>
          <a:p>
            <a:pPr marL="1438275" fontAlgn="base"/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200" b="1" dirty="0" smtClean="0">
                <a:latin typeface="Times New Roman" pitchFamily="18" charset="0"/>
                <a:cs typeface="Times New Roman" pitchFamily="18" charset="0"/>
              </a:rPr>
              <a:t>x . y </a:t>
            </a:r>
            <a:r>
              <a:rPr lang="en-GB" sz="2200" dirty="0" smtClean="0">
                <a:latin typeface="Times New Roman" pitchFamily="18" charset="0"/>
                <a:cs typeface="Times New Roman" pitchFamily="18" charset="0"/>
              </a:rPr>
              <a:t>= 3*1 + 2*0 + 0*0 + 5*0 = 3 </a:t>
            </a:r>
          </a:p>
          <a:p>
            <a:pPr marL="1438275" fontAlgn="base"/>
            <a:r>
              <a:rPr lang="en-GB" sz="22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200" b="1" dirty="0" smtClean="0">
                <a:latin typeface="Times New Roman" pitchFamily="18" charset="0"/>
                <a:cs typeface="Times New Roman" pitchFamily="18" charset="0"/>
              </a:rPr>
              <a:t>||x|| </a:t>
            </a:r>
            <a:r>
              <a:rPr lang="en-GB" sz="2200" dirty="0" smtClean="0">
                <a:latin typeface="Times New Roman" pitchFamily="18" charset="0"/>
                <a:cs typeface="Times New Roman" pitchFamily="18" charset="0"/>
              </a:rPr>
              <a:t>= √ (3)^2 + (2)^2 + (0)^2 + (5)^2 = 6.16 </a:t>
            </a:r>
          </a:p>
          <a:p>
            <a:pPr marL="1438275" fontAlgn="base"/>
            <a:r>
              <a:rPr lang="en-GB" sz="22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200" b="1" dirty="0" smtClean="0">
                <a:latin typeface="Times New Roman" pitchFamily="18" charset="0"/>
                <a:cs typeface="Times New Roman" pitchFamily="18" charset="0"/>
              </a:rPr>
              <a:t>||y|| </a:t>
            </a:r>
            <a:r>
              <a:rPr lang="en-GB" sz="2200" dirty="0" smtClean="0">
                <a:latin typeface="Times New Roman" pitchFamily="18" charset="0"/>
                <a:cs typeface="Times New Roman" pitchFamily="18" charset="0"/>
              </a:rPr>
              <a:t>= √ (1)^2 + (0)^2 + (0)^2 + (0)^2 = 1 </a:t>
            </a:r>
          </a:p>
          <a:p>
            <a:pPr marL="1438275" fontAlgn="base"/>
            <a:endParaRPr lang="en-GB" sz="1200" dirty="0" smtClean="0">
              <a:latin typeface="Times New Roman" pitchFamily="18" charset="0"/>
              <a:cs typeface="Times New Roman" pitchFamily="18" charset="0"/>
            </a:endParaRPr>
          </a:p>
          <a:p>
            <a:pPr marL="1438275" fontAlgn="base"/>
            <a:r>
              <a:rPr lang="en-GB" sz="22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GB" sz="2200" b="1" dirty="0" smtClean="0">
                <a:latin typeface="Times New Roman" pitchFamily="18" charset="0"/>
                <a:cs typeface="Times New Roman" pitchFamily="18" charset="0"/>
              </a:rPr>
              <a:t>∴ Cos(x, y)</a:t>
            </a:r>
            <a:r>
              <a:rPr lang="en-GB" sz="2200" dirty="0" smtClean="0">
                <a:latin typeface="Times New Roman" pitchFamily="18" charset="0"/>
                <a:cs typeface="Times New Roman" pitchFamily="18" charset="0"/>
              </a:rPr>
              <a:t> = 3 / (6.16 * 1) = 0.49 </a:t>
            </a:r>
          </a:p>
          <a:p>
            <a:pPr fontAlgn="base"/>
            <a:endParaRPr lang="en-GB" sz="800" dirty="0" smtClean="0">
              <a:latin typeface="Times New Roman" pitchFamily="18" charset="0"/>
              <a:cs typeface="Times New Roman" pitchFamily="18" charset="0"/>
            </a:endParaRPr>
          </a:p>
          <a:p>
            <a:pPr fontAlgn="base"/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	The 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dissimilarity 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between the vectors 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 is given by </a:t>
            </a:r>
          </a:p>
          <a:p>
            <a:pPr fontAlgn="base"/>
            <a:endParaRPr lang="en-GB" sz="600" dirty="0" smtClean="0">
              <a:latin typeface="Times New Roman" pitchFamily="18" charset="0"/>
              <a:cs typeface="Times New Roman" pitchFamily="18" charset="0"/>
            </a:endParaRPr>
          </a:p>
          <a:p>
            <a:pPr fontAlgn="base"/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		∴ </a:t>
            </a:r>
            <a:r>
              <a:rPr lang="en-GB" sz="2200" b="1" dirty="0" err="1" smtClean="0">
                <a:latin typeface="Times New Roman" pitchFamily="18" charset="0"/>
                <a:cs typeface="Times New Roman" pitchFamily="18" charset="0"/>
              </a:rPr>
              <a:t>Dis</a:t>
            </a:r>
            <a:r>
              <a:rPr lang="en-GB" sz="2200" b="1" dirty="0" smtClean="0">
                <a:latin typeface="Times New Roman" pitchFamily="18" charset="0"/>
                <a:cs typeface="Times New Roman" pitchFamily="18" charset="0"/>
              </a:rPr>
              <a:t> (x, y) </a:t>
            </a:r>
            <a:r>
              <a:rPr lang="en-GB" sz="2200" dirty="0" smtClean="0">
                <a:latin typeface="Times New Roman" pitchFamily="18" charset="0"/>
                <a:cs typeface="Times New Roman" pitchFamily="18" charset="0"/>
              </a:rPr>
              <a:t>= 1 - Cos(x, y) = 1 - 0.49 = 0.51</a:t>
            </a:r>
          </a:p>
          <a:p>
            <a:pPr fontAlgn="base"/>
            <a:endParaRPr lang="en-GB" sz="600" dirty="0" smtClean="0">
              <a:latin typeface="Times New Roman" pitchFamily="18" charset="0"/>
              <a:cs typeface="Times New Roman" pitchFamily="18" charset="0"/>
            </a:endParaRPr>
          </a:p>
          <a:p>
            <a:pPr fontAlgn="base"/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	The 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cosine similarity 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between 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two vectors 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measured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 in </a:t>
            </a:r>
            <a:r>
              <a:rPr lang="en-GB" sz="2600" b="1" dirty="0" smtClean="0">
                <a:latin typeface="Times New Roman" pitchFamily="18" charset="0"/>
                <a:cs typeface="Times New Roman" pitchFamily="18" charset="0"/>
              </a:rPr>
              <a:t>θ</a:t>
            </a:r>
          </a:p>
          <a:p>
            <a:pPr marL="1804988" lvl="1" fontAlgn="base">
              <a:buFont typeface="Arial" pitchFamily="34" charset="0"/>
              <a:buChar char="•"/>
            </a:pPr>
            <a:r>
              <a:rPr lang="en-GB" sz="2200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GB" sz="2200" b="1" dirty="0" smtClean="0">
                <a:latin typeface="Times New Roman" pitchFamily="18" charset="0"/>
                <a:cs typeface="Times New Roman" pitchFamily="18" charset="0"/>
              </a:rPr>
              <a:t>θ =   0°</a:t>
            </a:r>
            <a:r>
              <a:rPr lang="en-GB" sz="2200" dirty="0" smtClean="0">
                <a:latin typeface="Times New Roman" pitchFamily="18" charset="0"/>
                <a:cs typeface="Times New Roman" pitchFamily="18" charset="0"/>
              </a:rPr>
              <a:t>,   the </a:t>
            </a:r>
            <a:r>
              <a:rPr lang="en-GB" sz="2200" b="1" dirty="0" smtClean="0">
                <a:latin typeface="Times New Roman" pitchFamily="18" charset="0"/>
                <a:cs typeface="Times New Roman" pitchFamily="18" charset="0"/>
              </a:rPr>
              <a:t>vectors</a:t>
            </a:r>
            <a:r>
              <a:rPr lang="en-GB" sz="2200" dirty="0" smtClean="0">
                <a:latin typeface="Times New Roman" pitchFamily="18" charset="0"/>
                <a:cs typeface="Times New Roman" pitchFamily="18" charset="0"/>
              </a:rPr>
              <a:t> are </a:t>
            </a:r>
            <a:r>
              <a:rPr lang="en-GB" sz="2200" b="1" dirty="0" smtClean="0">
                <a:latin typeface="Times New Roman" pitchFamily="18" charset="0"/>
                <a:cs typeface="Times New Roman" pitchFamily="18" charset="0"/>
              </a:rPr>
              <a:t>similar</a:t>
            </a:r>
          </a:p>
          <a:p>
            <a:pPr marL="1804988" lvl="1" fontAlgn="base">
              <a:buFont typeface="Arial" pitchFamily="34" charset="0"/>
              <a:buChar char="•"/>
            </a:pPr>
            <a:r>
              <a:rPr lang="en-GB" sz="2200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GB" sz="2200" b="1" dirty="0" smtClean="0">
                <a:latin typeface="Times New Roman" pitchFamily="18" charset="0"/>
                <a:cs typeface="Times New Roman" pitchFamily="18" charset="0"/>
              </a:rPr>
              <a:t>θ = 90°</a:t>
            </a:r>
            <a:r>
              <a:rPr lang="en-GB" sz="2200" dirty="0" smtClean="0">
                <a:latin typeface="Times New Roman" pitchFamily="18" charset="0"/>
                <a:cs typeface="Times New Roman" pitchFamily="18" charset="0"/>
              </a:rPr>
              <a:t>,   the </a:t>
            </a:r>
            <a:r>
              <a:rPr lang="en-GB" sz="2200" b="1" dirty="0" smtClean="0">
                <a:latin typeface="Times New Roman" pitchFamily="18" charset="0"/>
                <a:cs typeface="Times New Roman" pitchFamily="18" charset="0"/>
              </a:rPr>
              <a:t>vectors</a:t>
            </a:r>
            <a:r>
              <a:rPr lang="en-GB" sz="2200" dirty="0" smtClean="0">
                <a:latin typeface="Times New Roman" pitchFamily="18" charset="0"/>
                <a:cs typeface="Times New Roman" pitchFamily="18" charset="0"/>
              </a:rPr>
              <a:t> are </a:t>
            </a:r>
            <a:r>
              <a:rPr lang="en-GB" sz="2200" b="1" dirty="0" smtClean="0">
                <a:latin typeface="Times New Roman" pitchFamily="18" charset="0"/>
                <a:cs typeface="Times New Roman" pitchFamily="18" charset="0"/>
              </a:rPr>
              <a:t>dissimilar</a:t>
            </a:r>
            <a:endParaRPr lang="en-GB" sz="22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42876" y="-142900"/>
            <a:ext cx="9429784" cy="714356"/>
          </a:xfrm>
        </p:spPr>
        <p:txBody>
          <a:bodyPr>
            <a:noAutofit/>
          </a:bodyPr>
          <a:lstStyle/>
          <a:p>
            <a:r>
              <a:rPr lang="en-IN" sz="4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Clustering Algorithms :: K-Means</a:t>
            </a:r>
            <a:endParaRPr lang="en-US" sz="39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71470" y="500042"/>
            <a:ext cx="9215470" cy="7848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K-Means is </a:t>
            </a:r>
          </a:p>
          <a:p>
            <a:pPr lvl="1"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An Unsupervised Learning algorithm</a:t>
            </a:r>
          </a:p>
          <a:p>
            <a:pPr lvl="1"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Follows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partitional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approach </a:t>
            </a:r>
          </a:p>
          <a:p>
            <a:pPr lvl="1"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Groups the unlabeled dataset into 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different clusters</a:t>
            </a:r>
          </a:p>
          <a:p>
            <a:pPr lvl="2"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where, 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is the pre-defined number  of clusters  </a:t>
            </a:r>
          </a:p>
          <a:p>
            <a:pPr marL="920750" lvl="3"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Each cluster is associated with a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centroid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920750" lvl="3"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Each point is assigned to the cluster with the closest </a:t>
            </a:r>
          </a:p>
          <a:p>
            <a:pPr marL="1198563" lvl="3" indent="6350" fontAlgn="base"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centroid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974725" lvl="3" indent="6350"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The objective is to minimize the sum of distances of </a:t>
            </a:r>
          </a:p>
          <a:p>
            <a:pPr marL="974725" lvl="3" indent="6350" fontAlgn="base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the points to their respective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centroid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1198563" lvl="3" indent="6350" fontAlgn="base">
              <a:lnSpc>
                <a:spcPct val="150000"/>
              </a:lnSpc>
              <a:buFont typeface="Arial" pitchFamily="34" charset="0"/>
              <a:buChar char="•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920750" lvl="3" fontAlgn="base">
              <a:lnSpc>
                <a:spcPct val="150000"/>
              </a:lnSpc>
              <a:buFont typeface="Arial" pitchFamily="34" charset="0"/>
              <a:buChar char="•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42876" y="-142900"/>
            <a:ext cx="9429784" cy="714356"/>
          </a:xfrm>
        </p:spPr>
        <p:txBody>
          <a:bodyPr>
            <a:noAutofit/>
          </a:bodyPr>
          <a:lstStyle/>
          <a:p>
            <a:r>
              <a:rPr lang="en-IN" sz="4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Clustering Algorithms :: K-Means</a:t>
            </a:r>
            <a:endParaRPr lang="en-US" sz="39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32" y="426623"/>
            <a:ext cx="9215470" cy="62170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Problem :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Given a set 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points in a 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-dimensional space and 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An integer 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to group the points into 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clusters as </a:t>
            </a:r>
          </a:p>
          <a:p>
            <a:pPr lvl="1"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 {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8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, C</a:t>
            </a:r>
            <a:r>
              <a:rPr lang="en-US" sz="2800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,…,C</a:t>
            </a:r>
            <a:r>
              <a:rPr lang="en-US" sz="2800" i="1" baseline="-25000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such that </a:t>
            </a: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	           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Sum of Squares Error (SSE) function </a:t>
            </a:r>
          </a:p>
          <a:p>
            <a:pPr lvl="1">
              <a:lnSpc>
                <a:spcPct val="150000"/>
              </a:lnSpc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is minimized, where </a:t>
            </a:r>
            <a:r>
              <a:rPr lang="en-US" sz="2800" i="1" dirty="0" err="1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800" i="1" baseline="-25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is the mean 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centroid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 of the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cluster </a:t>
            </a:r>
            <a:r>
              <a:rPr lang="en-US" sz="2800" i="1" dirty="0" err="1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800" i="1" baseline="-25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8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= 1, 2, 3,…., 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endParaRPr lang="en-US" sz="2800" i="1" baseline="-250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4171963"/>
            <a:ext cx="3609975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86380" y="4214818"/>
            <a:ext cx="3592911" cy="1071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Notched Right Arrow 5"/>
          <p:cNvSpPr/>
          <p:nvPr/>
        </p:nvSpPr>
        <p:spPr>
          <a:xfrm>
            <a:off x="4643438" y="4643446"/>
            <a:ext cx="428628" cy="214314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42876" y="-71438"/>
            <a:ext cx="9429784" cy="714356"/>
          </a:xfrm>
        </p:spPr>
        <p:txBody>
          <a:bodyPr>
            <a:noAutofit/>
          </a:bodyPr>
          <a:lstStyle/>
          <a:p>
            <a:r>
              <a:rPr lang="en-IN" sz="4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Clustering Algorithms :: K-Means</a:t>
            </a:r>
            <a:endParaRPr lang="en-US" sz="39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792708"/>
            <a:ext cx="9215470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</a:pPr>
            <a:r>
              <a:rPr lang="en-IN" sz="2600" b="1" dirty="0" smtClean="0">
                <a:latin typeface="Times New Roman" pitchFamily="18" charset="0"/>
                <a:cs typeface="Times New Roman" pitchFamily="18" charset="0"/>
              </a:rPr>
              <a:t>Algorithm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Select </a:t>
            </a:r>
            <a:r>
              <a:rPr lang="en-IN" sz="24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 points as initial </a:t>
            </a:r>
            <a:r>
              <a:rPr lang="en-IN" sz="2400" dirty="0" err="1" smtClean="0">
                <a:latin typeface="Times New Roman" pitchFamily="18" charset="0"/>
                <a:cs typeface="Times New Roman" pitchFamily="18" charset="0"/>
              </a:rPr>
              <a:t>centroids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Repeat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     Form </a:t>
            </a:r>
            <a:r>
              <a:rPr lang="en-IN" sz="24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 clusters by assigning all points to the closest </a:t>
            </a:r>
            <a:r>
              <a:rPr lang="en-IN" sz="2400" dirty="0" err="1" smtClean="0">
                <a:latin typeface="Times New Roman" pitchFamily="18" charset="0"/>
                <a:cs typeface="Times New Roman" pitchFamily="18" charset="0"/>
              </a:rPr>
              <a:t>centroid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IN" sz="2400" dirty="0" err="1" smtClean="0">
                <a:latin typeface="Times New Roman" pitchFamily="18" charset="0"/>
                <a:cs typeface="Times New Roman" pitchFamily="18" charset="0"/>
              </a:rPr>
              <a:t>Recompute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IN" sz="2400" dirty="0" err="1" smtClean="0">
                <a:latin typeface="Times New Roman" pitchFamily="18" charset="0"/>
                <a:cs typeface="Times New Roman" pitchFamily="18" charset="0"/>
              </a:rPr>
              <a:t>centroid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 of each cluster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Until the </a:t>
            </a:r>
            <a:r>
              <a:rPr lang="en-IN" sz="2400" dirty="0" err="1" smtClean="0">
                <a:latin typeface="Times New Roman" pitchFamily="18" charset="0"/>
                <a:cs typeface="Times New Roman" pitchFamily="18" charset="0"/>
              </a:rPr>
              <a:t>centroids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 do not change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IN" sz="2600" i="1" baseline="-25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Initialization 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   Initial centroids are often chosen randomly. 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   Clusters produced vary from one run to another. </a:t>
            </a:r>
          </a:p>
          <a:p>
            <a:pPr marL="514350" indent="-514350">
              <a:lnSpc>
                <a:spcPct val="150000"/>
              </a:lnSpc>
            </a:pPr>
            <a:endParaRPr lang="en-US" sz="2600" i="1" baseline="-25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1438"/>
            <a:ext cx="9144000" cy="1071546"/>
          </a:xfrm>
        </p:spPr>
        <p:txBody>
          <a:bodyPr>
            <a:noAutofit/>
          </a:bodyPr>
          <a:lstStyle/>
          <a:p>
            <a:r>
              <a:rPr lang="en-IN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Clustering Algorithms :: K-Means</a:t>
            </a:r>
            <a:br>
              <a:rPr lang="en-IN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Results</a:t>
            </a:r>
            <a:endParaRPr lang="en-US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1294371"/>
            <a:ext cx="7408192" cy="5349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86050" y="2000240"/>
            <a:ext cx="4133870" cy="345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0" y="71438"/>
            <a:ext cx="9144000" cy="10715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Algorithms :: K-Means</a:t>
            </a:r>
            <a:br>
              <a:rPr kumimoji="0" lang="en-IN" sz="4400" b="1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r>
              <a:rPr kumimoji="0" lang="en-IN" sz="4400" b="1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Results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1438"/>
            <a:ext cx="9144000" cy="928670"/>
          </a:xfrm>
        </p:spPr>
        <p:txBody>
          <a:bodyPr>
            <a:noAutofit/>
          </a:bodyPr>
          <a:lstStyle/>
          <a:p>
            <a:r>
              <a:rPr lang="en-IN" sz="3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Clustering Algorithms:: K-Means</a:t>
            </a:r>
            <a:br>
              <a:rPr lang="en-IN" sz="3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3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Results </a:t>
            </a:r>
            <a:endParaRPr lang="en-US" sz="38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2119" y="1142984"/>
            <a:ext cx="8921881" cy="5360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71438"/>
            <a:ext cx="9144001" cy="11429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Algorithms::K-Means</a:t>
            </a:r>
          </a:p>
          <a:p>
            <a:pPr lvl="0" algn="ctr">
              <a:spcBef>
                <a:spcPct val="0"/>
              </a:spcBef>
            </a:pPr>
            <a:r>
              <a:rPr lang="en-US" sz="4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Dealing with Initialization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214422"/>
            <a:ext cx="914400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Strategies</a:t>
            </a:r>
          </a:p>
          <a:p>
            <a:pPr lvl="1">
              <a:lnSpc>
                <a:spcPct val="150000"/>
              </a:lnSpc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•  Do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multiple runs </a:t>
            </a:r>
          </a:p>
          <a:p>
            <a:pPr marL="996950" lvl="2" indent="-84138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Select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clustering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result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with the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smallest error 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Select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original set of </a:t>
            </a:r>
            <a:r>
              <a:rPr lang="en-GB" sz="2800" b="1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 centroids 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methods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other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than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 random </a:t>
            </a:r>
          </a:p>
          <a:p>
            <a:pPr lvl="3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 E.g.,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pick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most distant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(from each other) </a:t>
            </a:r>
          </a:p>
          <a:p>
            <a:pPr lvl="3">
              <a:lnSpc>
                <a:spcPct val="150000"/>
              </a:lnSpc>
            </a:pP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   points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as 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initial cluster centroids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71438"/>
            <a:ext cx="9144001" cy="9286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Algorithms::K-Means</a:t>
            </a:r>
          </a:p>
          <a:p>
            <a:pPr lvl="0" algn="ctr">
              <a:spcBef>
                <a:spcPct val="0"/>
              </a:spcBef>
            </a:pPr>
            <a:r>
              <a:rPr lang="en-US" sz="4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Convergence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28670"/>
            <a:ext cx="91440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 K-means will converge for common similarity measures</a:t>
            </a:r>
          </a:p>
          <a:p>
            <a:pPr lvl="1" algn="just"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Such as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Euclidean distance (SSE), cosine similarity, </a:t>
            </a:r>
          </a:p>
          <a:p>
            <a:pPr lvl="1"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correlation, etc. </a:t>
            </a:r>
            <a:endParaRPr lang="en-GB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 Most of the convergence happens in the first few iterations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 Often the stopping condition is changed to ‘Until relatively </a:t>
            </a:r>
          </a:p>
          <a:p>
            <a:pPr algn="just">
              <a:lnSpc>
                <a:spcPct val="150000"/>
              </a:lnSpc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  few points change clusters’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pt-BR" sz="2800" dirty="0" smtClean="0">
                <a:latin typeface="Times New Roman" pitchFamily="18" charset="0"/>
                <a:cs typeface="Times New Roman" pitchFamily="18" charset="0"/>
              </a:rPr>
              <a:t>  Complexity is O( n * K * I * d ),    where</a:t>
            </a:r>
          </a:p>
          <a:p>
            <a:pPr algn="just">
              <a:lnSpc>
                <a:spcPct val="150000"/>
              </a:lnSpc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n = number of points,       K = number of clusters, </a:t>
            </a:r>
          </a:p>
          <a:p>
            <a:pPr algn="just">
              <a:lnSpc>
                <a:spcPct val="150000"/>
              </a:lnSpc>
            </a:pPr>
            <a:r>
              <a:rPr lang="en-GB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	I = number of iterations,   d = dimensionality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 In general, a fast and efficient algorithm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-142900"/>
            <a:ext cx="9144001" cy="9286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Algorithms::K-</a:t>
            </a:r>
            <a:r>
              <a:rPr kumimoji="0" lang="en-IN" sz="4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Medoids</a:t>
            </a:r>
            <a:endParaRPr kumimoji="0" lang="en-IN" sz="4400" b="1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28670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partitioning algorithm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Similar to 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-Means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Uses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medoids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instead of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centroids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medoids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minimizes the sum of dissimilarities 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Between points labeled to be in a cluster and a point </a:t>
            </a:r>
          </a:p>
          <a:p>
            <a:pPr lvl="2"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designated as the center of that cluster</a:t>
            </a:r>
          </a:p>
          <a:p>
            <a:pPr lvl="2">
              <a:lnSpc>
                <a:spcPct val="150000"/>
              </a:lnSpc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sz="2800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Medoids</a:t>
            </a:r>
            <a:r>
              <a:rPr lang="en-US" sz="28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most centrally located Object</a:t>
            </a:r>
            <a:endParaRPr lang="en-GB" sz="28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-24"/>
            <a:ext cx="9144001" cy="15716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Algorithms::</a:t>
            </a:r>
          </a:p>
          <a:p>
            <a:pPr lvl="0" algn="ctr">
              <a:spcBef>
                <a:spcPct val="0"/>
              </a:spcBef>
              <a:defRPr/>
            </a:pPr>
            <a:r>
              <a:rPr lang="en-US" sz="32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Clustering Large Applications based on </a:t>
            </a:r>
            <a:r>
              <a:rPr lang="en-US" sz="3200" b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RANdomized</a:t>
            </a:r>
            <a:r>
              <a:rPr lang="en-US" sz="32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Search (</a:t>
            </a:r>
            <a:r>
              <a: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CLARANS)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691705"/>
            <a:ext cx="914400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0988" indent="-28098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partitioning method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clustering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69373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recognize patterns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relationships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1150938" lvl="2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That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exist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in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spatial data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such as </a:t>
            </a:r>
          </a:p>
          <a:p>
            <a:pPr marL="1652588" lvl="2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Distance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-related</a:t>
            </a:r>
          </a:p>
          <a:p>
            <a:pPr marL="1652588" lvl="2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Direction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-relation</a:t>
            </a:r>
          </a:p>
          <a:p>
            <a:pPr marL="1652588" lvl="2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Topological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data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500098" y="-214338"/>
            <a:ext cx="10144195" cy="8572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3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Algorithms:: </a:t>
            </a:r>
            <a:r>
              <a:rPr lang="en-US" sz="38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Steps of </a:t>
            </a:r>
            <a:r>
              <a:rPr kumimoji="0" lang="en-IN" sz="3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CLARANS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28604"/>
            <a:ext cx="9144000" cy="720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Initially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select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random data points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label them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medoids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Select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 random point,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from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set of medoids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another point, 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which is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not in that set of medoids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Compute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sum of distances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the points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from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all other points 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sum of distances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from all other points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for point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less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than that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for point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x,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replace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with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y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Perform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such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 randomized search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medoids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times where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denotes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number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local minima computed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i.e.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number of iterations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be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performed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which is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specified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as  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parameter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</a:pPr>
            <a:endParaRPr lang="en-US" sz="2400" b="1" i="1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  <a:spcAft>
                <a:spcPts val="600"/>
              </a:spcAft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500098" y="-142900"/>
            <a:ext cx="10144195" cy="8572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3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Algorithms:: </a:t>
            </a:r>
            <a:r>
              <a:rPr lang="en-US" sz="38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Steps of </a:t>
            </a:r>
            <a:r>
              <a:rPr kumimoji="0" lang="en-IN" sz="3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CLARANS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57232"/>
            <a:ext cx="9144000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50000"/>
              </a:lnSpc>
              <a:spcAft>
                <a:spcPts val="60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set of medoids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obtained after such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number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iterations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termed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as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local optimum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+mj-lt"/>
              <a:buAutoNum type="arabicPeriod" startAt="6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counter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incremented </a:t>
            </a:r>
          </a:p>
          <a:p>
            <a:pPr marL="693738" lvl="1" indent="-236538">
              <a:lnSpc>
                <a:spcPct val="15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Every time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replacement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points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made</a:t>
            </a:r>
          </a:p>
          <a:p>
            <a:pPr marL="693738" lvl="1" indent="-236538">
              <a:lnSpc>
                <a:spcPct val="15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process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examining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points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possible replacement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repeated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till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counter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does not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exceed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maximum number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neighbors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to be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examined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specified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as 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parameter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+mj-lt"/>
              <a:buAutoNum type="arabicPeriod" startAt="6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set of medoids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obtained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when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algorithm stops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is</a:t>
            </a:r>
          </a:p>
          <a:p>
            <a:pPr marL="693738" lvl="1" indent="-236538">
              <a:lnSpc>
                <a:spcPct val="15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best local optimum choice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medoids</a:t>
            </a:r>
          </a:p>
          <a:p>
            <a:pPr lvl="2">
              <a:lnSpc>
                <a:spcPct val="150000"/>
              </a:lnSpc>
              <a:spcAft>
                <a:spcPts val="600"/>
              </a:spcAft>
              <a:buFont typeface="Arial" pitchFamily="34" charset="0"/>
              <a:buChar char="•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71438"/>
            <a:ext cx="9144001" cy="9286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Algorithms</a:t>
            </a:r>
          </a:p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Hierarchical Clustering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28670"/>
            <a:ext cx="91440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Two main types</a:t>
            </a:r>
          </a:p>
          <a:p>
            <a:pPr lvl="1"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 Agglomerative</a:t>
            </a:r>
          </a:p>
          <a:p>
            <a:pPr marL="914400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•  Start with the points as individual clusters </a:t>
            </a:r>
          </a:p>
          <a:p>
            <a:pPr marL="914400"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•  At each step, merge the closest pair of clusters until </a:t>
            </a:r>
          </a:p>
          <a:p>
            <a:pPr marL="914400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only one cluster (or k clusters) left 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Divisive </a:t>
            </a:r>
          </a:p>
          <a:p>
            <a:pPr marL="914400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• Start with one cluster including all points</a:t>
            </a:r>
          </a:p>
          <a:p>
            <a:pPr marL="914400"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• At each step, split a cluster until each cluster contains    </a:t>
            </a:r>
          </a:p>
          <a:p>
            <a:pPr marL="914400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a point (or there are k clusters)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•  Traditional hierarchical algorithms use a similarity matrix </a:t>
            </a:r>
          </a:p>
          <a:p>
            <a:pPr lvl="1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Merge or split one cluster at a time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71438"/>
            <a:ext cx="9144001" cy="9286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Algorithms</a:t>
            </a:r>
          </a:p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Advantages of Hierarchical Clustering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-71470" y="1248021"/>
            <a:ext cx="9286876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Do not have to assume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any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particular number of clusters 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Any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desired number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clusters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can be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obtained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by 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‘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Cutting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’ the </a:t>
            </a:r>
            <a:r>
              <a:rPr lang="en-US" sz="2600" b="1" dirty="0" err="1" smtClean="0">
                <a:latin typeface="Times New Roman" pitchFamily="18" charset="0"/>
                <a:cs typeface="Times New Roman" pitchFamily="18" charset="0"/>
              </a:rPr>
              <a:t>dendogram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at the 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proper level 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They may correspond to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meaningful taxonomies </a:t>
            </a:r>
          </a:p>
          <a:p>
            <a:pPr lvl="3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Example in 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biological sciences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e.g., animal kingdom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71438"/>
            <a:ext cx="9144001" cy="13572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4400" b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Algorithms</a:t>
            </a:r>
          </a:p>
          <a:p>
            <a:pPr algn="ctr"/>
            <a:r>
              <a:rPr lang="en-US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Balanced Iterative Reducing and Clustering Using Hierarchies (BIRCH)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" y="1666483"/>
            <a:ext cx="914396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098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more suitable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very large databases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and 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number of categories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relatively large</a:t>
            </a:r>
          </a:p>
          <a:p>
            <a:pPr marL="28098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Runs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very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fast</a:t>
            </a:r>
          </a:p>
          <a:p>
            <a:pPr marL="28098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Needs only a single pass to scan the dataset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clustering </a:t>
            </a:r>
          </a:p>
          <a:p>
            <a:pPr marL="28098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Uses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tree structure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create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cluster</a:t>
            </a:r>
          </a:p>
          <a:p>
            <a:pPr marL="738188" lvl="3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Generally called 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Clustering Feature Tree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(CF Tree)</a:t>
            </a:r>
          </a:p>
          <a:p>
            <a:pPr marL="738188" lvl="3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Each node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of this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tree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composed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several Clustering features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(CF)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-142900"/>
            <a:ext cx="9144001" cy="9286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BIRCH :: Clustering feature (CF)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" y="571480"/>
            <a:ext cx="9143968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Given, 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-dimensional data points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 a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cluster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{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="1" i="1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 where </a:t>
            </a:r>
            <a:r>
              <a:rPr lang="en-US" sz="28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= 1, 2, …, 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N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then,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clustering feature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defined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by a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triplet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	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	CF = ( 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,  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LS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,  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SS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where </a:t>
            </a:r>
          </a:p>
          <a:p>
            <a:pPr marL="1090613" lvl="2">
              <a:lnSpc>
                <a:spcPct val="150000"/>
              </a:lnSpc>
            </a:pP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is 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number of data points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 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cluster</a:t>
            </a:r>
          </a:p>
          <a:p>
            <a:pPr marL="1090613" lvl="2">
              <a:lnSpc>
                <a:spcPct val="150000"/>
              </a:lnSpc>
            </a:pP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LS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is 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linear sum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of 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 data points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1090613" lvl="2">
              <a:lnSpc>
                <a:spcPct val="150000"/>
              </a:lnSpc>
            </a:pP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SS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the square sum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of 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 data points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76717" y="2571744"/>
            <a:ext cx="4667283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-142900"/>
            <a:ext cx="9144001" cy="9286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BIRCH :: Clustering feature (CF)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" y="679906"/>
            <a:ext cx="914396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CF is a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compact storage </a:t>
            </a:r>
          </a:p>
          <a:p>
            <a:pPr marL="69373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data on points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 a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cluster</a:t>
            </a:r>
          </a:p>
          <a:p>
            <a:pPr marL="236538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Has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enough information </a:t>
            </a:r>
          </a:p>
          <a:p>
            <a:pPr marL="69373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calculate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intra-cluster distances</a:t>
            </a:r>
          </a:p>
          <a:p>
            <a:pPr marL="236538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Additivity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theorem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allows </a:t>
            </a:r>
          </a:p>
          <a:p>
            <a:pPr marL="69373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merge sub-clusters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-24"/>
            <a:ext cx="9144001" cy="9286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BIRCH :: CF Aditivity Theorem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2" y="873887"/>
            <a:ext cx="9143968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If 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CF entries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two disjoint sub-clusters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are</a:t>
            </a:r>
          </a:p>
          <a:p>
            <a:pPr marL="693738" lvl="1" indent="-236538">
              <a:lnSpc>
                <a:spcPct val="150000"/>
              </a:lnSpc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CF1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= (N1, LS1, SS1) and 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CF2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= (N2 ,LS2, SS2) </a:t>
            </a:r>
          </a:p>
          <a:p>
            <a:pPr marL="236538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CF entry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of 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cluster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parent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formed </a:t>
            </a:r>
          </a:p>
          <a:p>
            <a:pPr marL="69373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merging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two disjoint sub-clusters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is</a:t>
            </a:r>
          </a:p>
          <a:p>
            <a:pPr marL="236538" indent="-236538"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CF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CF1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CF2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236538" indent="-236538"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      = (N1 + N2 , LS1 + LS2, SS1 + SS2)</a:t>
            </a:r>
          </a:p>
          <a:p>
            <a:pPr marL="236538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Summarized information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for a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single cluster</a:t>
            </a:r>
          </a:p>
          <a:p>
            <a:pPr marL="236538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Summarized information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two clusters</a:t>
            </a:r>
          </a:p>
          <a:p>
            <a:pPr marL="23653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Additive Theorem helps 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merge sub-clusters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-24"/>
            <a:ext cx="9144001" cy="9286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BIRCH :: Example of using CF Vectors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grayscl/>
          </a:blip>
          <a:srcRect/>
          <a:stretch>
            <a:fillRect/>
          </a:stretch>
        </p:blipFill>
        <p:spPr bwMode="auto">
          <a:xfrm>
            <a:off x="352428" y="928669"/>
            <a:ext cx="8505852" cy="5650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-71462"/>
            <a:ext cx="9144001" cy="9286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BIRCH :: CF Tree Properties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" y="962269"/>
            <a:ext cx="9143968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11138">
              <a:lnSpc>
                <a:spcPct val="150000"/>
              </a:lnSpc>
              <a:buFont typeface="Arial" pitchFamily="34" charset="0"/>
              <a:buChar char="•"/>
              <a:tabLst>
                <a:tab pos="1016000" algn="l"/>
                <a:tab pos="1016000" algn="l"/>
              </a:tabLst>
            </a:pPr>
            <a:r>
              <a:rPr lang="en-US" altLang="zh-CN" sz="2600" b="1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An alternative representation </a:t>
            </a:r>
            <a:r>
              <a:rPr lang="en-US" altLang="zh-CN" sz="2600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of the </a:t>
            </a:r>
            <a:r>
              <a:rPr lang="en-US" altLang="zh-CN" sz="2600" b="1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dataset</a:t>
            </a:r>
          </a:p>
          <a:p>
            <a:pPr marL="236538" indent="-211138">
              <a:lnSpc>
                <a:spcPct val="150000"/>
              </a:lnSpc>
              <a:buFont typeface="Arial" pitchFamily="34" charset="0"/>
              <a:buChar char="•"/>
              <a:tabLst>
                <a:tab pos="1016000" algn="l"/>
                <a:tab pos="1016000" algn="l"/>
              </a:tabLst>
            </a:pPr>
            <a:r>
              <a:rPr lang="en-US" altLang="zh-CN" sz="2600" b="1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Each non-leaf </a:t>
            </a:r>
            <a:r>
              <a:rPr lang="en-US" altLang="zh-CN" sz="2600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node has </a:t>
            </a:r>
            <a:r>
              <a:rPr lang="en-US" altLang="zh-CN" sz="2600" b="1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at most </a:t>
            </a:r>
            <a:r>
              <a:rPr lang="en-US" altLang="zh-CN" sz="2600" b="1" dirty="0" smtClean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B</a:t>
            </a:r>
            <a:r>
              <a:rPr lang="en-US" altLang="zh-CN" sz="2600" b="1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entries</a:t>
            </a:r>
          </a:p>
          <a:p>
            <a:pPr marL="236538" indent="-211138">
              <a:lnSpc>
                <a:spcPct val="150000"/>
              </a:lnSpc>
              <a:buFont typeface="Arial" pitchFamily="34" charset="0"/>
              <a:buChar char="•"/>
              <a:tabLst>
                <a:tab pos="1016000" algn="l"/>
                <a:tab pos="1016000" algn="l"/>
              </a:tabLst>
            </a:pPr>
            <a:r>
              <a:rPr lang="en-US" altLang="zh-CN" sz="2600" b="1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Each leaf </a:t>
            </a:r>
            <a:r>
              <a:rPr lang="en-US" altLang="zh-CN" sz="2600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node</a:t>
            </a:r>
            <a:r>
              <a:rPr lang="en-US" altLang="zh-CN" sz="2600" b="1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en-US" altLang="zh-CN" sz="2600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has </a:t>
            </a:r>
            <a:r>
              <a:rPr lang="en-US" altLang="zh-CN" sz="2600" b="1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at most </a:t>
            </a:r>
            <a:r>
              <a:rPr lang="en-US" altLang="zh-CN" sz="2600" b="1" dirty="0" smtClean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L</a:t>
            </a:r>
            <a:r>
              <a:rPr lang="en-US" altLang="zh-CN" sz="2600" b="1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CF entries </a:t>
            </a:r>
          </a:p>
          <a:p>
            <a:pPr marL="693738" lvl="1" indent="-211138">
              <a:lnSpc>
                <a:spcPct val="150000"/>
              </a:lnSpc>
              <a:buFont typeface="Arial" pitchFamily="34" charset="0"/>
              <a:buChar char="•"/>
              <a:tabLst>
                <a:tab pos="1016000" algn="l"/>
                <a:tab pos="1016000" algn="l"/>
              </a:tabLst>
            </a:pPr>
            <a:r>
              <a:rPr lang="en-US" altLang="zh-CN" sz="2400" b="1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Each have diameter</a:t>
            </a:r>
            <a:r>
              <a:rPr lang="en-US" altLang="zh-CN" sz="2400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, at most 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T</a:t>
            </a:r>
            <a:endParaRPr lang="en-US" altLang="zh-CN" sz="2600" b="1" dirty="0" smtClean="0">
              <a:solidFill>
                <a:srgbClr val="FF0000"/>
              </a:solidFill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 marL="236538" indent="-211138">
              <a:lnSpc>
                <a:spcPct val="200000"/>
              </a:lnSpc>
              <a:buFont typeface="Arial" pitchFamily="34" charset="0"/>
              <a:buChar char="•"/>
              <a:tabLst>
                <a:tab pos="1016000" algn="l"/>
                <a:tab pos="1016000" algn="l"/>
              </a:tabLst>
            </a:pPr>
            <a:r>
              <a:rPr lang="en-US" altLang="zh-CN" sz="2600" b="1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Node size </a:t>
            </a:r>
            <a:r>
              <a:rPr lang="en-US" altLang="zh-CN" sz="2600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is </a:t>
            </a:r>
            <a:r>
              <a:rPr lang="en-US" altLang="zh-CN" sz="2600" b="1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determined</a:t>
            </a:r>
            <a:r>
              <a:rPr lang="en-US" altLang="zh-CN" sz="2600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by </a:t>
            </a:r>
          </a:p>
          <a:p>
            <a:pPr marL="693738" lvl="1" indent="-211138">
              <a:lnSpc>
                <a:spcPct val="150000"/>
              </a:lnSpc>
              <a:buFont typeface="Arial" pitchFamily="34" charset="0"/>
              <a:buChar char="•"/>
              <a:tabLst>
                <a:tab pos="1016000" algn="l"/>
                <a:tab pos="1016000" algn="l"/>
              </a:tabLst>
            </a:pPr>
            <a:r>
              <a:rPr lang="en-US" altLang="zh-CN" sz="2600" b="1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Dimensionality</a:t>
            </a:r>
            <a:r>
              <a:rPr lang="en-US" altLang="zh-CN" sz="2600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of </a:t>
            </a:r>
            <a:r>
              <a:rPr lang="en-US" altLang="zh-CN" sz="2600" b="1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data space</a:t>
            </a:r>
            <a:endParaRPr lang="en-US" altLang="zh-CN" sz="2600" dirty="0" smtClean="0"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 marL="693738" lvl="1" indent="-211138">
              <a:lnSpc>
                <a:spcPct val="150000"/>
              </a:lnSpc>
              <a:buFont typeface="Arial" pitchFamily="34" charset="0"/>
              <a:buChar char="•"/>
              <a:tabLst>
                <a:tab pos="1016000" algn="l"/>
                <a:tab pos="1016000" algn="l"/>
              </a:tabLst>
            </a:pPr>
            <a:r>
              <a:rPr lang="en-US" altLang="zh-CN" sz="2600" b="1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Input parameter, </a:t>
            </a:r>
            <a:r>
              <a:rPr lang="en-US" altLang="zh-CN" sz="2600" b="1" dirty="0" smtClean="0">
                <a:solidFill>
                  <a:srgbClr val="FF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P</a:t>
            </a:r>
            <a:r>
              <a:rPr lang="en-US" altLang="zh-CN" sz="2600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(</a:t>
            </a:r>
            <a:r>
              <a:rPr lang="en-US" altLang="zh-CN" sz="2600" b="1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page size</a:t>
            </a:r>
            <a:r>
              <a:rPr lang="en-US" altLang="zh-CN" sz="2600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)</a:t>
            </a:r>
            <a:endParaRPr lang="en-US" altLang="zh-CN" sz="2600" dirty="0"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3504" y="1928802"/>
            <a:ext cx="4071966" cy="364950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-71462"/>
            <a:ext cx="9144001" cy="9286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BIRCH :: Example of CF Tree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928670"/>
            <a:ext cx="8575822" cy="5643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-214338"/>
            <a:ext cx="9144001" cy="9286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BIRCH :: Insertion in CF Tree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502" y="590394"/>
            <a:ext cx="9143968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Identifying the appropriate leaf</a:t>
            </a:r>
          </a:p>
          <a:p>
            <a:pPr marL="693738" lvl="1" indent="-236538"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Recursively descending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CF tree</a:t>
            </a:r>
          </a:p>
          <a:p>
            <a:pPr marL="69373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Choose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closest child node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according to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 chosen </a:t>
            </a:r>
          </a:p>
          <a:p>
            <a:pPr marL="693738" lvl="1" indent="-236538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  distance metric</a:t>
            </a:r>
          </a:p>
          <a:p>
            <a:pPr marL="236538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Modifying the leaf</a:t>
            </a:r>
          </a:p>
          <a:p>
            <a:pPr marL="693738" lvl="1" indent="-236538"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Test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whether 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leaf can absorb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node </a:t>
            </a:r>
          </a:p>
          <a:p>
            <a:pPr marL="1150938" lvl="2" indent="-236538"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Without violating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threshold</a:t>
            </a:r>
          </a:p>
          <a:p>
            <a:pPr marL="69373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there is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no room</a:t>
            </a:r>
          </a:p>
          <a:p>
            <a:pPr marL="1150938" lvl="2" indent="-236538"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Split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node</a:t>
            </a:r>
          </a:p>
          <a:p>
            <a:pPr marL="236538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Modifying the path</a:t>
            </a:r>
          </a:p>
          <a:p>
            <a:pPr marL="693738" lvl="1" indent="-236538"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Update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CF information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up 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path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-71462"/>
            <a:ext cx="9144001" cy="9286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BIRCH :: Algorithm</a:t>
            </a:r>
          </a:p>
        </p:txBody>
      </p:sp>
      <p:sp>
        <p:nvSpPr>
          <p:cNvPr id="6" name="Rectangle 5"/>
          <p:cNvSpPr/>
          <p:nvPr/>
        </p:nvSpPr>
        <p:spPr>
          <a:xfrm>
            <a:off x="-71470" y="500042"/>
            <a:ext cx="9358314" cy="6117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Phase 1</a:t>
            </a:r>
          </a:p>
          <a:p>
            <a:pPr marL="693738" lvl="1" indent="-236538">
              <a:buFont typeface="Arial" pitchFamily="34" charset="0"/>
              <a:buChar char="•"/>
            </a:pP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Scan all data 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build 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initial in-memory CF tree</a:t>
            </a:r>
          </a:p>
          <a:p>
            <a:pPr marL="236538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Phase 2</a:t>
            </a:r>
          </a:p>
          <a:p>
            <a:pPr marL="693738" lvl="1" indent="-236538">
              <a:buFont typeface="Arial" pitchFamily="34" charset="0"/>
              <a:buChar char="•"/>
            </a:pP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Condense 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into</a:t>
            </a: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 Desirable length </a:t>
            </a:r>
          </a:p>
          <a:p>
            <a:pPr marL="1150938" lvl="2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building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smaller CF tree</a:t>
            </a:r>
          </a:p>
          <a:p>
            <a:pPr marL="236538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Phase 3</a:t>
            </a:r>
          </a:p>
          <a:p>
            <a:pPr marL="693738" lvl="1" indent="-236538">
              <a:buFont typeface="Arial" pitchFamily="34" charset="0"/>
              <a:buChar char="•"/>
            </a:pP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Global clustering</a:t>
            </a:r>
          </a:p>
          <a:p>
            <a:pPr marL="236538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Phase 4</a:t>
            </a:r>
          </a:p>
          <a:p>
            <a:pPr marL="693738" lvl="1" indent="-236538">
              <a:buFont typeface="Arial" pitchFamily="34" charset="0"/>
              <a:buChar char="•"/>
            </a:pP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Cluster refining </a:t>
            </a:r>
          </a:p>
          <a:p>
            <a:pPr marL="1150938" lvl="2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This is </a:t>
            </a: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optional</a:t>
            </a:r>
          </a:p>
          <a:p>
            <a:pPr marL="1150938" lvl="2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Requires more passes 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over the </a:t>
            </a: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refine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results</a:t>
            </a:r>
            <a:endParaRPr lang="en-US" sz="27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-71462"/>
            <a:ext cx="9144001" cy="9286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BIRCH :: Algorithm</a:t>
            </a:r>
          </a:p>
        </p:txBody>
      </p:sp>
      <p:sp>
        <p:nvSpPr>
          <p:cNvPr id="6" name="Rectangle 5"/>
          <p:cNvSpPr/>
          <p:nvPr/>
        </p:nvSpPr>
        <p:spPr>
          <a:xfrm>
            <a:off x="-71470" y="500042"/>
            <a:ext cx="935831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Phase 1</a:t>
            </a:r>
          </a:p>
          <a:p>
            <a:pPr marL="457200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Start with initial threshold</a:t>
            </a:r>
          </a:p>
          <a:p>
            <a:pPr marL="914400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Insert points into the tree</a:t>
            </a:r>
          </a:p>
          <a:p>
            <a:pPr marL="457200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If run out of memory</a:t>
            </a:r>
          </a:p>
          <a:p>
            <a:pPr marL="914400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Increase threshold value and rebuild a smaller tree</a:t>
            </a:r>
          </a:p>
          <a:p>
            <a:pPr marL="457200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Good initial threshold is important </a:t>
            </a:r>
          </a:p>
          <a:p>
            <a:pPr marL="914400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But hard to figure out</a:t>
            </a:r>
          </a:p>
          <a:p>
            <a:pPr marL="457200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Removal of Outlier</a:t>
            </a:r>
          </a:p>
          <a:p>
            <a:pPr marL="914400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When rebuilding tree remove outliers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-71462"/>
            <a:ext cx="9144001" cy="9286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BIRCH :: Algorithm</a:t>
            </a:r>
          </a:p>
        </p:txBody>
      </p:sp>
      <p:sp>
        <p:nvSpPr>
          <p:cNvPr id="6" name="Rectangle 5"/>
          <p:cNvSpPr/>
          <p:nvPr/>
        </p:nvSpPr>
        <p:spPr>
          <a:xfrm>
            <a:off x="-71470" y="500042"/>
            <a:ext cx="935831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Phase 2</a:t>
            </a:r>
          </a:p>
          <a:p>
            <a:pPr marL="738188" indent="-33972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Optional</a:t>
            </a:r>
          </a:p>
          <a:p>
            <a:pPr marL="738188" indent="-33972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Phase 2 prepares the tree for phase 3 </a:t>
            </a:r>
          </a:p>
          <a:p>
            <a:pPr marL="1195388" lvl="1" indent="-33972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As phase 3 sometime have minimum size which performs well</a:t>
            </a:r>
          </a:p>
          <a:p>
            <a:pPr marL="738188" indent="-33972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Removes outliers and grouping clusters are performed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-71462"/>
            <a:ext cx="9144001" cy="9286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BIRCH :: Algorithm</a:t>
            </a:r>
          </a:p>
        </p:txBody>
      </p:sp>
      <p:sp>
        <p:nvSpPr>
          <p:cNvPr id="6" name="Rectangle 5"/>
          <p:cNvSpPr/>
          <p:nvPr/>
        </p:nvSpPr>
        <p:spPr>
          <a:xfrm>
            <a:off x="-71470" y="500042"/>
            <a:ext cx="935831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39725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Problems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after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phase 1</a:t>
            </a:r>
          </a:p>
          <a:p>
            <a:pPr marL="69373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Input order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affects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results</a:t>
            </a:r>
          </a:p>
          <a:p>
            <a:pPr marL="69373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Splitting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triggered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by node size</a:t>
            </a:r>
          </a:p>
          <a:p>
            <a:pPr marL="280988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Phase 3</a:t>
            </a:r>
          </a:p>
          <a:p>
            <a:pPr marL="69373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Cluster all leaf nodes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according to 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CF values </a:t>
            </a:r>
          </a:p>
          <a:p>
            <a:pPr marL="1150938" lvl="2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With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an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existing algorithm</a:t>
            </a:r>
          </a:p>
          <a:p>
            <a:pPr marL="69373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Algorithm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used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here</a:t>
            </a:r>
          </a:p>
          <a:p>
            <a:pPr marL="1150938" lvl="2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Agglomerative hierarchical clustering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-71462"/>
            <a:ext cx="9144001" cy="9286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BIRCH :: Algorithm</a:t>
            </a:r>
          </a:p>
        </p:txBody>
      </p:sp>
      <p:sp>
        <p:nvSpPr>
          <p:cNvPr id="6" name="Rectangle 5"/>
          <p:cNvSpPr/>
          <p:nvPr/>
        </p:nvSpPr>
        <p:spPr>
          <a:xfrm>
            <a:off x="-71470" y="500042"/>
            <a:ext cx="9358314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0988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Phase 4</a:t>
            </a:r>
          </a:p>
          <a:p>
            <a:pPr marL="738188" indent="-2222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Optional</a:t>
            </a:r>
          </a:p>
          <a:p>
            <a:pPr marL="738188" indent="-2222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sz="2800" b="1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Do additional passes </a:t>
            </a:r>
            <a:r>
              <a:rPr lang="en-US" altLang="zh-CN" sz="2800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over the </a:t>
            </a:r>
            <a:r>
              <a:rPr lang="en-US" altLang="zh-CN" sz="2800" b="1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dataset</a:t>
            </a:r>
            <a:r>
              <a:rPr lang="en-US" altLang="zh-CN" sz="2800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&amp; </a:t>
            </a:r>
            <a:r>
              <a:rPr lang="en-US" altLang="zh-CN" sz="2800" b="1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reassign data points</a:t>
            </a:r>
            <a:r>
              <a:rPr lang="en-US" altLang="zh-CN" sz="2800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to the </a:t>
            </a:r>
            <a:r>
              <a:rPr lang="en-US" altLang="zh-CN" sz="2800" b="1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closest </a:t>
            </a:r>
            <a:r>
              <a:rPr lang="en-US" altLang="zh-CN" sz="2800" b="1" dirty="0" err="1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centroid</a:t>
            </a:r>
            <a:r>
              <a:rPr lang="en-US" altLang="zh-CN" sz="2800" b="1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lang="en-US" altLang="zh-CN" sz="2800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from </a:t>
            </a:r>
            <a:r>
              <a:rPr lang="en-US" altLang="zh-CN" sz="2800" b="1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phase 3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738188" indent="-2222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Recalculating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centroids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redistributing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items</a:t>
            </a:r>
          </a:p>
          <a:p>
            <a:pPr marL="738188" indent="-2222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Always converges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(no matter how many time phase 4 is repeated)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285752"/>
            <a:ext cx="9144001" cy="3357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</a:t>
            </a:r>
            <a:endParaRPr lang="en-IN" sz="4400" b="1" baseline="0" dirty="0" smtClean="0">
              <a:solidFill>
                <a:srgbClr val="C0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ctr">
              <a:spcBef>
                <a:spcPct val="0"/>
              </a:spcBef>
              <a:defRPr/>
            </a:pPr>
            <a:r>
              <a:rPr lang="en-IN" sz="4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Density based Approach</a:t>
            </a:r>
          </a:p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endParaRPr kumimoji="0" lang="en-IN" sz="4400" b="1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285752"/>
            <a:ext cx="9144001" cy="12144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</a:t>
            </a:r>
            <a:endParaRPr lang="en-IN" sz="4400" b="1" baseline="0" dirty="0" smtClean="0">
              <a:solidFill>
                <a:srgbClr val="C0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ctr">
              <a:spcBef>
                <a:spcPct val="0"/>
              </a:spcBef>
              <a:defRPr/>
            </a:pPr>
            <a:r>
              <a:rPr lang="en-IN" sz="4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Density based Approach</a:t>
            </a:r>
          </a:p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endParaRPr kumimoji="0" lang="en-IN" sz="4400" b="1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" y="1142984"/>
            <a:ext cx="9143968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36538">
              <a:buFont typeface="Arial" pitchFamily="34" charset="0"/>
              <a:buChar char="•"/>
            </a:pPr>
            <a:r>
              <a:rPr lang="en-US" altLang="zh-CN" sz="2800" b="1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Major features</a:t>
            </a:r>
          </a:p>
          <a:p>
            <a:pPr marL="73818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sz="2800" b="1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Discover clusters </a:t>
            </a:r>
            <a:r>
              <a:rPr lang="en-US" altLang="zh-CN" sz="2800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of </a:t>
            </a:r>
            <a:r>
              <a:rPr lang="en-US" altLang="zh-CN" sz="2800" b="1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arbitrary shape</a:t>
            </a:r>
          </a:p>
          <a:p>
            <a:pPr marL="73818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sz="2800" b="1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Handle noise</a:t>
            </a:r>
          </a:p>
          <a:p>
            <a:pPr marL="738188" lvl="1" indent="-236538">
              <a:buFont typeface="Arial" pitchFamily="34" charset="0"/>
              <a:buChar char="•"/>
            </a:pPr>
            <a:r>
              <a:rPr lang="en-US" altLang="zh-CN" sz="2800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Need </a:t>
            </a:r>
            <a:r>
              <a:rPr lang="en-US" altLang="zh-CN" sz="2800" b="1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density parameters </a:t>
            </a:r>
            <a:r>
              <a:rPr lang="en-US" altLang="zh-CN" sz="2800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as </a:t>
            </a:r>
            <a:r>
              <a:rPr lang="en-US" altLang="zh-CN" sz="2800" b="1" dirty="0" smtClean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termination condition</a:t>
            </a:r>
          </a:p>
          <a:p>
            <a:pPr marL="738188" lvl="1" indent="-236538"/>
            <a:endParaRPr lang="en-US" altLang="zh-CN" sz="2000" b="1" dirty="0" smtClean="0"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 marL="236538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Makes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an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assumption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that </a:t>
            </a:r>
          </a:p>
          <a:p>
            <a:pPr marL="69373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Clusters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are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dense regions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 space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separated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regions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lower density</a:t>
            </a:r>
          </a:p>
          <a:p>
            <a:pPr marL="236538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Since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clustering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performed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based on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dense connectivity</a:t>
            </a:r>
          </a:p>
          <a:p>
            <a:pPr marL="69373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Can find clusters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arbitrary shapes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0"/>
            <a:ext cx="9144001" cy="1428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I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</a:t>
            </a:r>
            <a:endParaRPr lang="en-IN" sz="3600" b="1" baseline="0" dirty="0" smtClean="0">
              <a:solidFill>
                <a:srgbClr val="C0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lvl="0" algn="ctr">
              <a:spcBef>
                <a:spcPct val="0"/>
              </a:spcBef>
              <a:defRPr/>
            </a:pPr>
            <a:r>
              <a:rPr lang="en-US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Density Based Spatial Clustering of Applications with Noise (DBSCAN) </a:t>
            </a:r>
            <a:endParaRPr kumimoji="0" lang="en-IN" sz="3600" b="1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" y="1611421"/>
            <a:ext cx="914396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36538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algorithm </a:t>
            </a:r>
          </a:p>
          <a:p>
            <a:pPr marL="693738" lvl="1" indent="-236538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Can find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dense arbitrarily shaped clusters </a:t>
            </a:r>
          </a:p>
          <a:p>
            <a:pPr marL="236538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Requires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two input threshold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parameters</a:t>
            </a:r>
          </a:p>
          <a:p>
            <a:pPr marL="693738" lvl="1" indent="-236538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 err="1" smtClean="0">
                <a:latin typeface="Times New Roman" pitchFamily="18" charset="0"/>
                <a:cs typeface="Times New Roman" pitchFamily="18" charset="0"/>
              </a:rPr>
              <a:t>Eps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distance</a:t>
            </a:r>
          </a:p>
          <a:p>
            <a:pPr marL="1150938" lvl="2" indent="-236538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Defines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radius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of 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neighborhood region</a:t>
            </a:r>
          </a:p>
          <a:p>
            <a:pPr marL="69373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i="1" dirty="0" err="1" smtClean="0">
                <a:latin typeface="Times New Roman" pitchFamily="18" charset="0"/>
                <a:cs typeface="Times New Roman" pitchFamily="18" charset="0"/>
              </a:rPr>
              <a:t>minPoints</a:t>
            </a:r>
            <a:endParaRPr lang="en-US" sz="2800" b="1" i="1" dirty="0" smtClean="0">
              <a:latin typeface="Times New Roman" pitchFamily="18" charset="0"/>
              <a:cs typeface="Times New Roman" pitchFamily="18" charset="0"/>
            </a:endParaRPr>
          </a:p>
          <a:p>
            <a:pPr marL="1150938" lvl="2" indent="-236538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Defines 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minimum number of points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that should be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contained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within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that neighborhood</a:t>
            </a:r>
          </a:p>
          <a:p>
            <a:pPr marL="236538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Works well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even with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noisy datasets</a:t>
            </a:r>
          </a:p>
          <a:p>
            <a:pPr marL="1081088" lvl="2">
              <a:lnSpc>
                <a:spcPct val="150000"/>
              </a:lnSpc>
              <a:spcAft>
                <a:spcPts val="600"/>
              </a:spcAft>
              <a:buFont typeface="Arial" pitchFamily="34" charset="0"/>
              <a:buChar char="•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0"/>
            <a:ext cx="9144001" cy="10715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I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</a:t>
            </a:r>
            <a:endParaRPr lang="en-IN" sz="3600" b="1" baseline="0" dirty="0" smtClean="0">
              <a:solidFill>
                <a:srgbClr val="C0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lvl="0" algn="ctr">
              <a:spcBef>
                <a:spcPct val="0"/>
              </a:spcBef>
              <a:defRPr/>
            </a:pPr>
            <a:r>
              <a:rPr lang="en-US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DBSCAN</a:t>
            </a:r>
            <a:endParaRPr kumimoji="0" lang="en-IN" sz="3600" b="1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" y="1142984"/>
            <a:ext cx="9143968" cy="6032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 Characterization of points </a:t>
            </a:r>
          </a:p>
          <a:p>
            <a:pPr marL="636588">
              <a:spcAft>
                <a:spcPts val="600"/>
              </a:spcAft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• 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Core Point</a:t>
            </a:r>
          </a:p>
          <a:p>
            <a:pPr marL="1093788" lvl="2">
              <a:spcAft>
                <a:spcPts val="600"/>
              </a:spcAft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If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 point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has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more than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specified number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1093788" lvl="2">
              <a:spcAft>
                <a:spcPts val="600"/>
              </a:spcAft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  points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 dirty="0" err="1" smtClean="0">
                <a:latin typeface="Times New Roman" pitchFamily="18" charset="0"/>
                <a:cs typeface="Times New Roman" pitchFamily="18" charset="0"/>
              </a:rPr>
              <a:t>MinPts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 within a </a:t>
            </a:r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cricle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radius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 err="1" smtClean="0">
                <a:latin typeface="Times New Roman" pitchFamily="18" charset="0"/>
                <a:cs typeface="Times New Roman" pitchFamily="18" charset="0"/>
              </a:rPr>
              <a:t>Eps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1093788" lvl="2">
              <a:spcAft>
                <a:spcPts val="600"/>
              </a:spcAft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These points belong in a dense region and are at the </a:t>
            </a:r>
          </a:p>
          <a:p>
            <a:pPr marL="1093788" lvl="2">
              <a:spcAft>
                <a:spcPts val="600"/>
              </a:spcAft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interior of a cluster </a:t>
            </a:r>
          </a:p>
          <a:p>
            <a:pPr marL="636588" lvl="1">
              <a:spcAft>
                <a:spcPts val="600"/>
              </a:spcAft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Border point </a:t>
            </a:r>
          </a:p>
          <a:p>
            <a:pPr marL="1093788" lvl="2">
              <a:spcAft>
                <a:spcPts val="600"/>
              </a:spcAft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 point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has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fewer than </a:t>
            </a:r>
            <a:r>
              <a:rPr lang="en-US" sz="2800" b="1" i="1" dirty="0" err="1" smtClean="0">
                <a:latin typeface="Times New Roman" pitchFamily="18" charset="0"/>
                <a:cs typeface="Times New Roman" pitchFamily="18" charset="0"/>
              </a:rPr>
              <a:t>MinPts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within </a:t>
            </a:r>
            <a:r>
              <a:rPr lang="en-US" sz="2800" b="1" i="1" dirty="0" err="1" smtClean="0">
                <a:latin typeface="Times New Roman" pitchFamily="18" charset="0"/>
                <a:cs typeface="Times New Roman" pitchFamily="18" charset="0"/>
              </a:rPr>
              <a:t>Eps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but is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in the neighborhood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of a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core point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623888" lvl="1">
              <a:spcAft>
                <a:spcPts val="600"/>
              </a:spcAft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Noise point </a:t>
            </a:r>
          </a:p>
          <a:p>
            <a:pPr marL="1081088" lvl="2">
              <a:spcAft>
                <a:spcPts val="600"/>
              </a:spcAft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A point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which is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not a core point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or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 border point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1081088" lvl="2">
              <a:spcAft>
                <a:spcPts val="600"/>
              </a:spcAft>
              <a:buFont typeface="Arial" pitchFamily="34" charset="0"/>
              <a:buChar char="•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-142900"/>
            <a:ext cx="9144001" cy="9286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</a:t>
            </a:r>
            <a:r>
              <a:rPr kumimoji="0" lang="en-IN" sz="4400" b="1" i="0" u="none" strike="noStrike" kern="120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:: DBSCAN</a:t>
            </a:r>
            <a:endParaRPr kumimoji="0" lang="en-IN" sz="4400" b="1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12290" name="Picture 2" descr="https://miro.medium.com/max/1638/1*kbTih3J6rYNmVuV9hN17bQ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643050"/>
            <a:ext cx="8562104" cy="385765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-24"/>
            <a:ext cx="9144001" cy="11430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</a:t>
            </a:r>
            <a:endParaRPr lang="en-IN" sz="4000" b="1" baseline="0" dirty="0" smtClean="0">
              <a:solidFill>
                <a:srgbClr val="C0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DBSCAN</a:t>
            </a:r>
            <a:endParaRPr kumimoji="0" lang="en-IN" sz="4000" b="1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1266818"/>
            <a:ext cx="8715436" cy="3090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28662" y="4643446"/>
            <a:ext cx="7500990" cy="1484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-142900"/>
            <a:ext cx="9144001" cy="7857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 :: </a:t>
            </a:r>
            <a:r>
              <a:rPr kumimoji="0" lang="en-IN" sz="4000" b="1" i="0" u="none" strike="noStrike" kern="1200" cap="none" spc="0" normalizeH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DBSCAN</a:t>
            </a:r>
            <a:endParaRPr kumimoji="0" lang="en-IN" sz="4000" b="1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" y="651950"/>
            <a:ext cx="9143968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36538">
              <a:buFont typeface="Arial" pitchFamily="34" charset="0"/>
              <a:buChar char="•"/>
            </a:pPr>
            <a:r>
              <a:rPr lang="en-US" sz="28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Density Concepts</a:t>
            </a:r>
            <a:endParaRPr lang="en-US" sz="2800" dirty="0" smtClean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marL="69373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Directly Density Reachable</a:t>
            </a:r>
          </a:p>
          <a:p>
            <a:pPr marL="1028700" lvl="2" indent="-236538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point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Directly Density Reachable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from 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1028700" lvl="2" indent="-236538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a point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is 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core point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q ∈ </a:t>
            </a:r>
            <a:r>
              <a:rPr lang="en-US" sz="2400" b="1" i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i="1" baseline="-25000" dirty="0" err="1" smtClean="0">
                <a:latin typeface="Times New Roman" pitchFamily="18" charset="0"/>
                <a:cs typeface="Times New Roman" pitchFamily="18" charset="0"/>
              </a:rPr>
              <a:t>Eps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800" b="1" i="1" dirty="0" smtClean="0">
              <a:latin typeface="Times New Roman" pitchFamily="18" charset="0"/>
              <a:cs typeface="Times New Roman" pitchFamily="18" charset="0"/>
            </a:endParaRPr>
          </a:p>
          <a:p>
            <a:pPr marL="69373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Density Reachable</a:t>
            </a:r>
          </a:p>
          <a:p>
            <a:pPr marL="1076325" lvl="2" indent="-236538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point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Density Reachable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from a point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q </a:t>
            </a:r>
          </a:p>
          <a:p>
            <a:pPr marL="1076325" lvl="2" indent="-236538"/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i="1" dirty="0" err="1" smtClean="0">
                <a:latin typeface="Times New Roman" pitchFamily="18" charset="0"/>
                <a:cs typeface="Times New Roman" pitchFamily="18" charset="0"/>
              </a:rPr>
              <a:t>w.r.t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 err="1" smtClean="0">
                <a:latin typeface="Times New Roman" pitchFamily="18" charset="0"/>
                <a:cs typeface="Times New Roman" pitchFamily="18" charset="0"/>
              </a:rPr>
              <a:t>Eps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400" b="1" i="1" dirty="0" err="1" smtClean="0">
                <a:latin typeface="Times New Roman" pitchFamily="18" charset="0"/>
                <a:cs typeface="Times New Roman" pitchFamily="18" charset="0"/>
              </a:rPr>
              <a:t>Minpts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if there is a chain of points </a:t>
            </a:r>
          </a:p>
          <a:p>
            <a:pPr marL="1076325" lvl="2" indent="-236538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   p</a:t>
            </a:r>
            <a:r>
              <a:rPr lang="en-US" sz="24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, p</a:t>
            </a:r>
            <a:r>
              <a:rPr lang="en-US" sz="2400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, …., </a:t>
            </a:r>
            <a:r>
              <a:rPr lang="en-US" sz="2400" i="1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i="1" baseline="-25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 = p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400" i="1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i="1" baseline="-25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 = q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such that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i="1" baseline="-25000" dirty="0" smtClean="0">
                <a:latin typeface="Times New Roman" pitchFamily="18" charset="0"/>
                <a:cs typeface="Times New Roman" pitchFamily="18" charset="0"/>
              </a:rPr>
              <a:t>i+1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</a:t>
            </a:r>
          </a:p>
          <a:p>
            <a:pPr marL="1076325" lvl="2" indent="-236538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directly density reachable from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i="1" baseline="-25000" dirty="0" smtClean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b="1" i="1" dirty="0" smtClean="0">
              <a:latin typeface="Times New Roman" pitchFamily="18" charset="0"/>
              <a:cs typeface="Times New Roman" pitchFamily="18" charset="0"/>
            </a:endParaRPr>
          </a:p>
          <a:p>
            <a:pPr marL="69373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Density Connected</a:t>
            </a:r>
          </a:p>
          <a:p>
            <a:pPr marL="1150938" lvl="2" indent="-236538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point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Density connected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a point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q </a:t>
            </a:r>
          </a:p>
          <a:p>
            <a:pPr marL="1150938" lvl="2" indent="-236538"/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i="1" dirty="0" err="1" smtClean="0">
                <a:latin typeface="Times New Roman" pitchFamily="18" charset="0"/>
                <a:cs typeface="Times New Roman" pitchFamily="18" charset="0"/>
              </a:rPr>
              <a:t>w.r.t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 err="1" smtClean="0">
                <a:latin typeface="Times New Roman" pitchFamily="18" charset="0"/>
                <a:cs typeface="Times New Roman" pitchFamily="18" charset="0"/>
              </a:rPr>
              <a:t>Eps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400" b="1" i="1" dirty="0" err="1" smtClean="0">
                <a:latin typeface="Times New Roman" pitchFamily="18" charset="0"/>
                <a:cs typeface="Times New Roman" pitchFamily="18" charset="0"/>
              </a:rPr>
              <a:t>Minpts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if there is a point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, </a:t>
            </a:r>
          </a:p>
          <a:p>
            <a:pPr marL="1150938" lvl="2" indent="-236538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such that both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are density reachable </a:t>
            </a:r>
          </a:p>
          <a:p>
            <a:pPr marL="1150938" lvl="2" indent="-236538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from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400" i="1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latin typeface="Times New Roman" pitchFamily="18" charset="0"/>
                <a:cs typeface="Times New Roman" pitchFamily="18" charset="0"/>
              </a:rPr>
              <a:t>w.r.t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 err="1" smtClean="0">
                <a:latin typeface="Times New Roman" pitchFamily="18" charset="0"/>
                <a:cs typeface="Times New Roman" pitchFamily="18" charset="0"/>
              </a:rPr>
              <a:t>Eps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400" b="1" i="1" dirty="0" err="1" smtClean="0">
                <a:latin typeface="Times New Roman" pitchFamily="18" charset="0"/>
                <a:cs typeface="Times New Roman" pitchFamily="18" charset="0"/>
              </a:rPr>
              <a:t>Minpts</a:t>
            </a:r>
            <a:endParaRPr lang="en-US" sz="2400" i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18" name="Picture 2" descr="https://miro.medium.com/max/2182/1*of9pB-lKzq2WYGJR0MptEQ.png"/>
          <p:cNvPicPr>
            <a:picLocks noChangeAspect="1" noChangeArrowheads="1"/>
          </p:cNvPicPr>
          <p:nvPr/>
        </p:nvPicPr>
        <p:blipFill>
          <a:blip r:embed="rId2"/>
          <a:srcRect l="69742" t="13427" r="5720" b="19436"/>
          <a:stretch>
            <a:fillRect/>
          </a:stretch>
        </p:blipFill>
        <p:spPr bwMode="auto">
          <a:xfrm>
            <a:off x="7174248" y="2928934"/>
            <a:ext cx="1969752" cy="1571636"/>
          </a:xfrm>
          <a:prstGeom prst="rect">
            <a:avLst/>
          </a:prstGeom>
          <a:noFill/>
        </p:spPr>
      </p:pic>
      <p:pic>
        <p:nvPicPr>
          <p:cNvPr id="9220" name="Picture 4" descr="https://miro.medium.com/max/2122/1*glKWP2UK1uJRk1-IjSRIIg.png"/>
          <p:cNvPicPr>
            <a:picLocks noChangeAspect="1" noChangeArrowheads="1"/>
          </p:cNvPicPr>
          <p:nvPr/>
        </p:nvPicPr>
        <p:blipFill>
          <a:blip r:embed="rId3"/>
          <a:srcRect l="65274" t="12903" r="1733" b="25806"/>
          <a:stretch>
            <a:fillRect/>
          </a:stretch>
        </p:blipFill>
        <p:spPr bwMode="auto">
          <a:xfrm>
            <a:off x="6572264" y="5143512"/>
            <a:ext cx="2571736" cy="1500198"/>
          </a:xfrm>
          <a:prstGeom prst="rect">
            <a:avLst/>
          </a:prstGeom>
          <a:noFill/>
        </p:spPr>
      </p:pic>
      <p:pic>
        <p:nvPicPr>
          <p:cNvPr id="6" name="Picture 5" descr="D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2590" y="1071547"/>
            <a:ext cx="1244404" cy="128588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-142876"/>
            <a:ext cx="9144001" cy="9286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 :: </a:t>
            </a:r>
            <a:r>
              <a:rPr kumimoji="0" lang="en-IN" sz="4000" b="1" i="0" u="none" strike="noStrike" kern="1200" cap="none" spc="0" normalizeH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DBSCAN</a:t>
            </a:r>
            <a:endParaRPr kumimoji="0" lang="en-IN" sz="4000" b="1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" y="723388"/>
            <a:ext cx="9143968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36538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algorithm proceeds </a:t>
            </a:r>
          </a:p>
          <a:p>
            <a:pPr marL="693738" lvl="1" indent="-236538">
              <a:spcAft>
                <a:spcPts val="600"/>
              </a:spcAft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arbitrarily picking up a point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 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dataset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693738" lvl="1" indent="-236538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If there are at least </a:t>
            </a:r>
            <a:r>
              <a:rPr lang="en-US" sz="2800" b="1" i="1" dirty="0" err="1" smtClean="0">
                <a:latin typeface="Times New Roman" pitchFamily="18" charset="0"/>
                <a:cs typeface="Times New Roman" pitchFamily="18" charset="0"/>
              </a:rPr>
              <a:t>minPoint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points within a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radius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to that point, then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consider </a:t>
            </a:r>
          </a:p>
          <a:p>
            <a:pPr marL="1150938" lvl="2" indent="-236538">
              <a:spcAft>
                <a:spcPts val="600"/>
              </a:spcAft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All these points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be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part of the same cluster</a:t>
            </a:r>
          </a:p>
          <a:p>
            <a:pPr marL="693738" lvl="1" indent="-236538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cluster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is then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expanded </a:t>
            </a:r>
          </a:p>
          <a:p>
            <a:pPr marL="1150938" lvl="2" indent="-236538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recursively repeating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neighborhood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calculation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for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each neighboring point </a:t>
            </a:r>
          </a:p>
          <a:p>
            <a:pPr marL="693738" lvl="2" indent="-236538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algorithm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continues</a:t>
            </a:r>
          </a:p>
          <a:p>
            <a:pPr marL="1150938" lvl="3" indent="-236538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Until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all points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classified</a:t>
            </a:r>
          </a:p>
          <a:p>
            <a:pPr marL="236538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complexity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of this algorithm is </a:t>
            </a:r>
          </a:p>
          <a:p>
            <a:pPr marL="693738" lvl="1" indent="-236538">
              <a:buFont typeface="Arial" pitchFamily="34" charset="0"/>
              <a:buChar char="•"/>
            </a:pP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O(n</a:t>
            </a:r>
            <a:r>
              <a:rPr lang="en-US" sz="2800" i="1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), where 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is the number of points</a:t>
            </a:r>
          </a:p>
          <a:p>
            <a:pPr marL="693738" lvl="1" indent="-236538">
              <a:buFont typeface="Arial" pitchFamily="34" charset="0"/>
              <a:buChar char="•"/>
            </a:pP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O(n log n) 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ith spatial indexing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kd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-tree or r-tree)</a:t>
            </a:r>
            <a:endParaRPr lang="en-US" sz="2800" i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71438"/>
            <a:ext cx="9144001" cy="9286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</a:t>
            </a:r>
            <a:endParaRPr lang="en-IN" sz="4000" b="1" baseline="0" dirty="0" smtClean="0">
              <a:solidFill>
                <a:srgbClr val="C0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DBSCAN</a:t>
            </a:r>
            <a:endParaRPr kumimoji="0" lang="en-IN" sz="4000" b="1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117493"/>
            <a:ext cx="7630956" cy="5740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71438"/>
            <a:ext cx="9144001" cy="9286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</a:t>
            </a:r>
            <a:endParaRPr lang="en-IN" sz="4000" b="1" baseline="0" dirty="0" smtClean="0">
              <a:solidFill>
                <a:srgbClr val="C0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Results :: DBSCAN</a:t>
            </a:r>
            <a:endParaRPr kumimoji="0" lang="en-IN" sz="4000" b="1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4" name="Picture 3" descr="dbscan_k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1756"/>
            <a:ext cx="9144000" cy="42790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71438"/>
            <a:ext cx="9144001" cy="9286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</a:t>
            </a:r>
            <a:endParaRPr lang="en-IN" sz="4000" b="1" baseline="0" dirty="0" smtClean="0">
              <a:solidFill>
                <a:srgbClr val="C0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Graph Based Clustering</a:t>
            </a:r>
            <a:endParaRPr kumimoji="0" lang="en-IN" sz="4000" b="1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" y="1115311"/>
            <a:ext cx="9143968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36538"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Transform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into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 graph representation</a:t>
            </a:r>
          </a:p>
          <a:p>
            <a:pPr marL="693738" lvl="1" indent="-236538"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Vertices </a:t>
            </a:r>
          </a:p>
          <a:p>
            <a:pPr marL="1150938" lvl="2" indent="-236538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data points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be clustered </a:t>
            </a:r>
          </a:p>
          <a:p>
            <a:pPr marL="69373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Edges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are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weighted </a:t>
            </a:r>
          </a:p>
          <a:p>
            <a:pPr marL="1150938" lvl="2" indent="-236538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Based on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similarity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between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data points</a:t>
            </a:r>
          </a:p>
          <a:p>
            <a:pPr marL="1150938" lvl="2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1150938" lvl="2" indent="-236538"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                      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Graph partitioning</a:t>
            </a:r>
          </a:p>
          <a:p>
            <a:pPr marL="1150938" lvl="2" indent="-236538">
              <a:buFont typeface="Arial" pitchFamily="34" charset="0"/>
              <a:buChar char="•"/>
            </a:pP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marL="1150938" lvl="2" indent="-236538">
              <a:buFont typeface="Arial" pitchFamily="34" charset="0"/>
              <a:buChar char="•"/>
            </a:pP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marL="1150938" lvl="2" indent="-236538">
              <a:buFont typeface="Arial" pitchFamily="34" charset="0"/>
              <a:buChar char="•"/>
            </a:pP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marL="1150938" lvl="2" indent="-236538">
              <a:buFont typeface="Arial" pitchFamily="34" charset="0"/>
              <a:buChar char="•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                                  Each connected component </a:t>
            </a:r>
          </a:p>
          <a:p>
            <a:pPr marL="1150938" lvl="2" indent="-236538">
              <a:buFont typeface="Arial" pitchFamily="34" charset="0"/>
              <a:buChar char="•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 is a cluster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1" y="3786190"/>
            <a:ext cx="3071834" cy="2013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60501" y="3857628"/>
            <a:ext cx="3054903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ight Arrow 6"/>
          <p:cNvSpPr/>
          <p:nvPr/>
        </p:nvSpPr>
        <p:spPr>
          <a:xfrm>
            <a:off x="3643306" y="4643446"/>
            <a:ext cx="1285884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1" y="71438"/>
            <a:ext cx="9144001" cy="9286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</a:t>
            </a:r>
            <a:endParaRPr lang="en-IN" sz="4000" b="1" baseline="0" dirty="0" smtClean="0">
              <a:solidFill>
                <a:srgbClr val="C0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Graph Based Clustering</a:t>
            </a:r>
            <a:endParaRPr kumimoji="0" lang="en-IN" sz="4000" b="1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" y="1115311"/>
            <a:ext cx="914396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6213" indent="-176213"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Two things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needed</a:t>
            </a:r>
          </a:p>
          <a:p>
            <a:pPr marL="633413" lvl="1" indent="-176213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objective function </a:t>
            </a:r>
          </a:p>
          <a:p>
            <a:pPr marL="1090613" lvl="2" indent="-176213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To determine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what would be 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best way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cut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the </a:t>
            </a:r>
          </a:p>
          <a:p>
            <a:pPr marL="1090613" lvl="2" indent="-176213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edges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of a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graph</a:t>
            </a:r>
          </a:p>
          <a:p>
            <a:pPr marL="1090613" lvl="2" indent="-176213"/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1090613" lvl="2" indent="-176213"/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1090613" lvl="2" indent="-176213"/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1090613" lvl="2" indent="-176213"/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1090613" lvl="2" indent="-176213"/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1090613" lvl="2" indent="-176213"/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An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algorithm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find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optimal partition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(optimal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   according to the objective function)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3174" y="3000371"/>
            <a:ext cx="3500462" cy="2294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285783" y="0"/>
            <a:ext cx="9429784" cy="10001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3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Algorithm::</a:t>
            </a:r>
            <a:r>
              <a:rPr lang="en-IN" sz="3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Graph Based Clustering</a:t>
            </a:r>
          </a:p>
          <a:p>
            <a:pPr lvl="0" algn="ctr">
              <a:spcBef>
                <a:spcPct val="0"/>
              </a:spcBef>
              <a:defRPr/>
            </a:pPr>
            <a:r>
              <a:rPr lang="en-US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Objective Function for Partitioning</a:t>
            </a:r>
            <a:endParaRPr lang="en-IN" sz="34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" y="1071546"/>
            <a:ext cx="914396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36538"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Suppose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we want to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partition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set of vertices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into </a:t>
            </a:r>
          </a:p>
          <a:p>
            <a:pPr marL="693738" lvl="1" indent="-236538"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Two sets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V1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V2</a:t>
            </a:r>
          </a:p>
          <a:p>
            <a:pPr marL="69373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One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possible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objective function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is </a:t>
            </a:r>
          </a:p>
          <a:p>
            <a:pPr marL="1150938" lvl="2" indent="-236538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minimize graph cut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3214686"/>
            <a:ext cx="7643866" cy="946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2" y="4357694"/>
            <a:ext cx="7067550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285783" y="0"/>
            <a:ext cx="9429784" cy="10001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3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Algorithm::</a:t>
            </a:r>
            <a:r>
              <a:rPr lang="en-IN" sz="3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Graph Based Clustering</a:t>
            </a:r>
          </a:p>
          <a:p>
            <a:pPr lvl="0" algn="ctr">
              <a:spcBef>
                <a:spcPct val="0"/>
              </a:spcBef>
              <a:defRPr/>
            </a:pPr>
            <a:r>
              <a:rPr lang="en-US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Objective Function for Partitioning</a:t>
            </a:r>
            <a:endParaRPr lang="en-IN" sz="34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71470" y="1071546"/>
            <a:ext cx="935831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36538"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Limitation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minimizing graph cut</a:t>
            </a: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optimal solution </a:t>
            </a:r>
          </a:p>
          <a:p>
            <a:pPr marL="633413" lvl="1" indent="-176213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Might be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split up a single node </a:t>
            </a:r>
          </a:p>
          <a:p>
            <a:pPr marL="1090613" lvl="2" indent="-176213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From 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rest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of 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graph</a:t>
            </a:r>
          </a:p>
          <a:p>
            <a:pPr marL="693738" lvl="1" indent="-236538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But,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not a desirable solution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1736" y="2071678"/>
            <a:ext cx="3819525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285783" y="0"/>
            <a:ext cx="9429784" cy="10001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3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Algorithm::</a:t>
            </a:r>
            <a:r>
              <a:rPr lang="en-IN" sz="3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Graph Based Clustering</a:t>
            </a:r>
          </a:p>
          <a:p>
            <a:pPr lvl="0" algn="ctr">
              <a:spcBef>
                <a:spcPct val="0"/>
              </a:spcBef>
              <a:defRPr/>
            </a:pPr>
            <a:r>
              <a:rPr lang="en-US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Objective Function for Partitioning</a:t>
            </a:r>
            <a:endParaRPr lang="en-IN" sz="34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71470" y="1071546"/>
            <a:ext cx="935831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36538"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Should not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only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minimize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graph cut</a:t>
            </a:r>
          </a:p>
          <a:p>
            <a:pPr marL="693738" lvl="1" indent="-236538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But also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look for balanced clusters</a:t>
            </a: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/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2214554"/>
            <a:ext cx="6124599" cy="2077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5984" y="4286256"/>
            <a:ext cx="19431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34" y="5143512"/>
            <a:ext cx="5344455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86446" y="4643446"/>
            <a:ext cx="3286115" cy="1702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285783" y="0"/>
            <a:ext cx="9572691" cy="10001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3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Algorithm::</a:t>
            </a:r>
            <a:r>
              <a:rPr lang="en-IN" sz="3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Graph Based Clustering</a:t>
            </a:r>
          </a:p>
          <a:p>
            <a:pPr lvl="0" algn="ctr">
              <a:spcBef>
                <a:spcPct val="0"/>
              </a:spcBef>
              <a:defRPr/>
            </a:pPr>
            <a:r>
              <a:rPr lang="en-US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Example : Objective Function for Partitioning</a:t>
            </a:r>
            <a:endParaRPr lang="en-IN" sz="34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71470" y="1071546"/>
            <a:ext cx="935831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/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1500174"/>
            <a:ext cx="7542349" cy="2428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3093" y="4443605"/>
            <a:ext cx="8169501" cy="1628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285783" y="0"/>
            <a:ext cx="9572691" cy="10001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3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Algorithm::</a:t>
            </a:r>
            <a:r>
              <a:rPr lang="en-IN" sz="3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Graph Based Clustering</a:t>
            </a:r>
          </a:p>
          <a:p>
            <a:pPr lvl="0" algn="ctr">
              <a:spcBef>
                <a:spcPct val="0"/>
              </a:spcBef>
              <a:defRPr/>
            </a:pPr>
            <a:r>
              <a:rPr lang="en-US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Example : Objective Function for Partitioning</a:t>
            </a:r>
            <a:endParaRPr lang="en-IN" sz="34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71470" y="1071546"/>
            <a:ext cx="935831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/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1500174"/>
            <a:ext cx="7542349" cy="2428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3093" y="4443605"/>
            <a:ext cx="8169501" cy="1628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285783" y="0"/>
            <a:ext cx="9572691" cy="10001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3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Algorithm::</a:t>
            </a:r>
            <a:r>
              <a:rPr lang="en-IN" sz="3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Graph Based Clustering</a:t>
            </a:r>
          </a:p>
          <a:p>
            <a:pPr lvl="0" algn="ctr">
              <a:spcBef>
                <a:spcPct val="0"/>
              </a:spcBef>
              <a:defRPr/>
            </a:pPr>
            <a:r>
              <a:rPr lang="en-US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MST Clustering Algorithm</a:t>
            </a:r>
            <a:endParaRPr lang="en-IN" sz="34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71470" y="1071546"/>
            <a:ext cx="935831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/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928670"/>
            <a:ext cx="9144000" cy="643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36538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First construct MST(minimum spanning tree) </a:t>
            </a:r>
          </a:p>
          <a:p>
            <a:pPr marL="693738" lvl="1" indent="-236538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Using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Kruskal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algorithm and then </a:t>
            </a:r>
          </a:p>
          <a:p>
            <a:pPr marL="693738" lvl="1" indent="-236538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Set a threshold value and step size</a:t>
            </a:r>
          </a:p>
          <a:p>
            <a:pPr marL="236538" indent="-236538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Then, remove all those edges from the MST</a:t>
            </a:r>
          </a:p>
          <a:p>
            <a:pPr marL="693738" lvl="1" indent="-236538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Whose lengths are greater than the threshold value</a:t>
            </a:r>
          </a:p>
          <a:p>
            <a:pPr marL="236538" indent="-236538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Next, calculate and record </a:t>
            </a:r>
          </a:p>
          <a:p>
            <a:pPr marL="693738" lvl="1" indent="-236538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ratio between the intra-cluster distance and inter-cluster distance and the threshold</a:t>
            </a:r>
          </a:p>
          <a:p>
            <a:pPr marL="236538" indent="-236538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Update the threshold value </a:t>
            </a:r>
          </a:p>
          <a:p>
            <a:pPr marL="693738" lvl="1" indent="-236538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By incrementing the step size </a:t>
            </a:r>
          </a:p>
          <a:p>
            <a:pPr marL="280988" lvl="1" indent="-236538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Every time a new (updated) threshold value is obtained</a:t>
            </a:r>
          </a:p>
          <a:p>
            <a:pPr marL="738188" lvl="2" indent="-236538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Repeat the above procedure</a:t>
            </a:r>
          </a:p>
          <a:p>
            <a:pPr marL="236538" indent="-236538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Stop repeating</a:t>
            </a:r>
          </a:p>
          <a:p>
            <a:pPr marL="693738" lvl="1" indent="-236538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When we encounter a situation such that the threshold value is maximum and as such no MST edges can be removed</a:t>
            </a:r>
          </a:p>
          <a:p>
            <a:pPr marL="236538" indent="-236538">
              <a:buFont typeface="Arial" pitchFamily="34" charset="0"/>
              <a:buChar char="•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285783" y="0"/>
            <a:ext cx="9572691" cy="10001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3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Algorithm::</a:t>
            </a:r>
            <a:r>
              <a:rPr lang="en-IN" sz="3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Graph Based Clustering</a:t>
            </a:r>
          </a:p>
          <a:p>
            <a:pPr lvl="0" algn="ctr">
              <a:spcBef>
                <a:spcPct val="0"/>
              </a:spcBef>
              <a:defRPr/>
            </a:pPr>
            <a:r>
              <a:rPr lang="en-US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MST Clustering Algorithm</a:t>
            </a:r>
            <a:endParaRPr lang="en-IN" sz="34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71470" y="1071546"/>
            <a:ext cx="935831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/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928670"/>
            <a:ext cx="9144000" cy="3349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 such situation</a:t>
            </a:r>
          </a:p>
          <a:p>
            <a:pPr marL="69373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All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data points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belong to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 single cluster</a:t>
            </a:r>
          </a:p>
          <a:p>
            <a:pPr marL="236538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Finally,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minimum value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recorded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ratio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</a:t>
            </a:r>
          </a:p>
          <a:p>
            <a:pPr marL="69373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Form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clusters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corresponding to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stored threshold value</a:t>
            </a:r>
          </a:p>
          <a:p>
            <a:pPr marL="693738" lvl="1" indent="-236538">
              <a:lnSpc>
                <a:spcPct val="150000"/>
              </a:lnSpc>
              <a:buFont typeface="Arial" pitchFamily="34" charset="0"/>
              <a:buChar char="•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693738" lvl="1" indent="-236538">
              <a:lnSpc>
                <a:spcPct val="150000"/>
              </a:lnSpc>
              <a:buFont typeface="Arial" pitchFamily="34" charset="0"/>
              <a:buChar char="•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285783" y="0"/>
            <a:ext cx="9572691" cy="10001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3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Algorithm::</a:t>
            </a:r>
            <a:r>
              <a:rPr lang="en-IN" sz="3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Graph Based Clustering</a:t>
            </a:r>
          </a:p>
          <a:p>
            <a:pPr lvl="0" algn="ctr">
              <a:spcBef>
                <a:spcPct val="0"/>
              </a:spcBef>
              <a:defRPr/>
            </a:pPr>
            <a:r>
              <a:rPr lang="en-US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MST Clustering Algorithm</a:t>
            </a:r>
            <a:endParaRPr lang="en-IN" sz="34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71470" y="1071546"/>
            <a:ext cx="935831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/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928670"/>
            <a:ext cx="91440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Has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two extreme cases</a:t>
            </a:r>
          </a:p>
          <a:p>
            <a:pPr marL="693738" lvl="1" indent="-236538">
              <a:buFont typeface="Arial" pitchFamily="34" charset="0"/>
              <a:buChar char="•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With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threshold value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zero </a:t>
            </a:r>
          </a:p>
          <a:p>
            <a:pPr marL="1150938" lvl="2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Each point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remains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within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single cluster</a:t>
            </a:r>
          </a:p>
          <a:p>
            <a:pPr marL="69373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With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maximum threshold value </a:t>
            </a:r>
          </a:p>
          <a:p>
            <a:pPr marL="1150938" lvl="2" indent="-236538">
              <a:buFont typeface="Arial" pitchFamily="34" charset="0"/>
              <a:buChar char="•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All the points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lie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within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single cluster</a:t>
            </a:r>
          </a:p>
          <a:p>
            <a:pPr marL="236538" lvl="2" indent="-236538">
              <a:lnSpc>
                <a:spcPct val="150000"/>
              </a:lnSpc>
              <a:buFont typeface="Arial" pitchFamily="34" charset="0"/>
              <a:buChar char="•"/>
            </a:pPr>
            <a:endParaRPr lang="en-US" sz="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lvl="2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algorithm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searches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for that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optimum value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threshold </a:t>
            </a:r>
          </a:p>
          <a:p>
            <a:pPr marL="693738" lvl="3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For which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Intra-Inter distance ratio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minimum </a:t>
            </a:r>
          </a:p>
          <a:p>
            <a:pPr marL="236538" lvl="2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optimum value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threshold </a:t>
            </a:r>
          </a:p>
          <a:p>
            <a:pPr marL="693738" lvl="3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Must lie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between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these two extreme values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threshold</a:t>
            </a:r>
          </a:p>
          <a:p>
            <a:pPr marL="236538" lvl="2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order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to reduce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number of iteration </a:t>
            </a:r>
          </a:p>
          <a:p>
            <a:pPr marL="693738" lvl="3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initial threshold value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should not be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set to zero</a:t>
            </a:r>
          </a:p>
          <a:p>
            <a:pPr marL="693738" lvl="1" indent="-236538">
              <a:lnSpc>
                <a:spcPct val="150000"/>
              </a:lnSpc>
              <a:buFont typeface="Arial" pitchFamily="34" charset="0"/>
              <a:buChar char="•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-285783" y="0"/>
            <a:ext cx="9572691" cy="10001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3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Clustering Algorithm::</a:t>
            </a:r>
            <a:r>
              <a:rPr lang="en-IN" sz="3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Graph Based Clustering</a:t>
            </a:r>
          </a:p>
          <a:p>
            <a:pPr lvl="0" algn="ctr">
              <a:spcBef>
                <a:spcPct val="0"/>
              </a:spcBef>
              <a:defRPr/>
            </a:pPr>
            <a:r>
              <a:rPr lang="en-US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MST Clustering Algorithm</a:t>
            </a:r>
            <a:endParaRPr lang="en-IN" sz="34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71470" y="1071546"/>
            <a:ext cx="935831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buFont typeface="Arial" pitchFamily="34" charset="0"/>
              <a:buChar char="•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/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928670"/>
            <a:ext cx="914400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Advantage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69373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Comparatively better performance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than </a:t>
            </a:r>
          </a:p>
          <a:p>
            <a:pPr marL="1150938" lvl="2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Algorithms 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like k-means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236538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Disadvantage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693738" lvl="1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Threshold value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step size </a:t>
            </a:r>
          </a:p>
          <a:p>
            <a:pPr marL="1150938" lvl="2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Needs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to be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defined </a:t>
            </a:r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apriori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693738" lvl="1" indent="-236538">
              <a:lnSpc>
                <a:spcPct val="150000"/>
              </a:lnSpc>
              <a:buFont typeface="Arial" pitchFamily="34" charset="0"/>
              <a:buChar char="•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51160</TotalTime>
  <Words>2367</Words>
  <Application>Microsoft Office PowerPoint</Application>
  <PresentationFormat>On-screen Show (4:3)</PresentationFormat>
  <Paragraphs>533</Paragraphs>
  <Slides>60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1" baseType="lpstr">
      <vt:lpstr>Office Theme</vt:lpstr>
      <vt:lpstr>Cluster Analysis</vt:lpstr>
      <vt:lpstr>What is Cluster Analysis ?</vt:lpstr>
      <vt:lpstr>Applications of Cluster Analysis</vt:lpstr>
      <vt:lpstr>Notion of a Cluster can be Ambiguous</vt:lpstr>
      <vt:lpstr>Types of Clustering</vt:lpstr>
      <vt:lpstr>Clustering :: Similarity Measures</vt:lpstr>
      <vt:lpstr>Clustering :: Similarity Measures</vt:lpstr>
      <vt:lpstr>Similarity Measures::Euclidean Distance</vt:lpstr>
      <vt:lpstr>Similarity Measures::Manhattan distance</vt:lpstr>
      <vt:lpstr>Similarity Measures:: Minkowski distance</vt:lpstr>
      <vt:lpstr>Similarity Measures::Cosine similarity</vt:lpstr>
      <vt:lpstr>Similarity Measures::Cosine similarity</vt:lpstr>
      <vt:lpstr>Clustering Algorithms :: K-Means</vt:lpstr>
      <vt:lpstr>Clustering Algorithms :: K-Means</vt:lpstr>
      <vt:lpstr>Clustering Algorithms :: K-Means</vt:lpstr>
      <vt:lpstr>Clustering Algorithms :: K-Means Results</vt:lpstr>
      <vt:lpstr>Slide 17</vt:lpstr>
      <vt:lpstr>Clustering Algorithms:: K-Means  Results 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 Analysis</dc:title>
  <dc:creator>Windows User</dc:creator>
  <cp:lastModifiedBy>Windows User</cp:lastModifiedBy>
  <cp:revision>172</cp:revision>
  <dcterms:created xsi:type="dcterms:W3CDTF">2021-05-11T11:06:00Z</dcterms:created>
  <dcterms:modified xsi:type="dcterms:W3CDTF">2022-05-04T21:51:13Z</dcterms:modified>
</cp:coreProperties>
</file>